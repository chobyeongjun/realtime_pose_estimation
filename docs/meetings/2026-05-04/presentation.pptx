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21"/>
  </p:notesMasterIdLst>
  <p:sldIdLst>
    <p:sldId id="405" r:id="rId2"/>
    <p:sldId id="394" r:id="rId3"/>
    <p:sldId id="396" r:id="rId4"/>
    <p:sldId id="406" r:id="rId6"/>
    <p:sldId id="388" r:id="rId12"/>
    <p:sldId id="408" r:id="rId19"/>
    <p:sldId id="398" r:id="rId8"/>
    <p:sldId id="399" r:id="rId15"/>
    <p:sldId id="400" r:id="rId16"/>
    <p:sldId id="387" r:id="rId11"/>
    <p:sldId id="404" r:id="rId13"/>
    <p:sldId id="401" r:id="rId9"/>
    <p:sldId id="368" r:id="rId18"/>
    <p:sldId id="385" r:id="rId10"/>
    <p:sldId id="407" r:id="rId14"/>
    <p:sldId id="389" r:id="rId7"/>
    <p:sldId id="40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2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2" autoAdjust="0"/>
  </p:normalViewPr>
  <p:slideViewPr>
    <p:cSldViewPr snapToGrid="0" snapToObjects="1">
      <p:cViewPr varScale="1">
        <p:scale>
          <a:sx n="133" d="100"/>
          <a:sy n="133" d="100"/>
        </p:scale>
        <p:origin x="12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4" d="100"/>
          <a:sy n="84" d="100"/>
        </p:scale>
        <p:origin x="331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275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  <p:sp>
        <p:nvSpPr>
          <p:cNvPr id="61" name="AutoPN"/>
          <p:cNvSpPr txBox="1"/>
          <p:nvPr/>
        </p:nvSpPr>
        <p:spPr>
          <a:xfrm>
            <a:off x="8156400" y="76200"/>
            <a:ext cx="838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4-4107-2D45-A0E0C2B5E004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  <p:sp>
        <p:nvSpPr>
          <p:cNvPr id="61" name="AutoPN"/>
          <p:cNvSpPr txBox="1"/>
          <p:nvPr/>
        </p:nvSpPr>
        <p:spPr>
          <a:xfrm>
            <a:off x="7924800" y="762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2-4107-2D45-A0E0C2B5E002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opAccent"/>
          <p:cNvSpPr/>
          <p:nvPr userDrawn="1"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WatermarkCBJ"/>
          <p:cNvSpPr/>
          <p:nvPr userDrawn="1"/>
        </p:nvSpPr>
        <p:spPr>
          <a:xfrm>
            <a:off x="63500" y="49911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 marL="0" indent="0">
              <a:buNone/>
            </a:pPr>
            <a:r>
              <a:rPr lang="en-US" sz="400" dirty="0">
                <a:solidFill>
                  <a:srgbClr val="D6D0C7"/>
                </a:solidFill>
                <a:latin typeface="Pretendard"/>
                <a:ea typeface="Pretendard"/>
              </a:rPr>
              <a:t>Designed by CBJ</a:t>
            </a:r>
          </a:p>
        </p:txBody>
      </p:sp>
      <p:sp>
        <p:nvSpPr>
          <p:cNvPr id="2" name="AutoPN">
            <a:extLst>
              <a:ext uri="{FF2B5EF4-FFF2-40B4-BE49-F238E27FC236}">
                <a16:creationId xmlns:a16="http://schemas.microsoft.com/office/drawing/2014/main" id="{D43203E8-B6AA-7016-6754-5B93910BA18F}"/>
              </a:ext>
            </a:extLst>
          </p:cNvPr>
          <p:cNvSpPr txBox="1"/>
          <p:nvPr userDrawn="1"/>
        </p:nvSpPr>
        <p:spPr>
          <a:xfrm>
            <a:off x="8156400" y="76200"/>
            <a:ext cx="838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4-4107-2D45-A0E0C2B5E004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12" r:id="rId11"/>
    <p:sldLayoutId id="2147483713" r:id="rId12"/>
    <p:sldLayoutId id="2147483755" r:id="rId13"/>
    <p:sldLayoutId id="2147483660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71B5E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2D314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142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VerticalAccent"/>
          <p:cNvSpPr/>
          <p:nvPr/>
        </p:nvSpPr>
        <p:spPr>
          <a:xfrm>
            <a:off x="635000" y="1117600"/>
            <a:ext cx="25400" cy="203200"/>
          </a:xfrm>
          <a:prstGeom prst="rect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ag"/>
          <p:cNvSpPr txBox="1"/>
          <p:nvPr/>
        </p:nvSpPr>
        <p:spPr>
          <a:xfrm>
            <a:off x="762000" y="1092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900" b="1" spc="300" dirty="0">
                <a:solidFill>
                  <a:srgbClr val="E8941A"/>
                </a:solidFill>
                <a:latin typeface="Pretendard"/>
                <a:ea typeface="Pretendard"/>
              </a:rPr>
              <a:t>FIRST MEETING</a:t>
            </a:r>
          </a:p>
        </p:txBody>
      </p:sp>
      <p:sp>
        <p:nvSpPr>
          <p:cNvPr id="32" name="MainTitle"/>
          <p:cNvSpPr txBox="1"/>
          <p:nvPr/>
        </p:nvSpPr>
        <p:spPr>
          <a:xfrm>
            <a:off x="584600" y="1524000"/>
            <a:ext cx="7874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5600"/>
              </a:lnSpc>
            </a:pPr>
            <a:r>
              <a:rPr lang="en-US" altLang="ko-KR" sz="5000" b="1" dirty="0"/>
              <a:t>H-Walker</a:t>
            </a:r>
          </a:p>
          <a:p>
            <a:pPr>
              <a:lnSpc>
                <a:spcPts val="5600"/>
              </a:lnSpc>
            </a:pPr>
            <a:r>
              <a:rPr lang="en-US" altLang="ko-KR" sz="5000" b="1" dirty="0"/>
              <a:t>Real-Time Vision Control</a:t>
            </a:r>
          </a:p>
        </p:txBody>
      </p:sp>
      <p:sp>
        <p:nvSpPr>
          <p:cNvPr id="33" name="Subtitle"/>
          <p:cNvSpPr txBox="1"/>
          <p:nvPr/>
        </p:nvSpPr>
        <p:spPr>
          <a:xfrm>
            <a:off x="635000" y="3810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3D4255"/>
                </a:solidFill>
                <a:ea typeface="Pretendard"/>
              </a:rPr>
              <a:t>케이블 드리븐 보행 보조기를 위한 실시간 하체 포즈 추정 시스템</a:t>
            </a:r>
          </a:p>
        </p:txBody>
      </p:sp>
      <p:sp>
        <p:nvSpPr>
          <p:cNvPr id="35" name="AuthorInfo"/>
          <p:cNvSpPr txBox="1"/>
          <p:nvPr/>
        </p:nvSpPr>
        <p:spPr>
          <a:xfrm>
            <a:off x="635000" y="4546600"/>
            <a:ext cx="5905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71B5E"/>
                </a:solidFill>
                <a:latin typeface="Pretendard"/>
                <a:ea typeface="Pretendard"/>
              </a:rPr>
              <a:t>조병준  |  중앙대학교 기계공학과  |  AR Lab</a:t>
            </a:r>
          </a:p>
        </p:txBody>
      </p:sp>
      <p:sp>
        <p:nvSpPr>
          <p:cNvPr id="37" name="HLine"/>
          <p:cNvSpPr/>
          <p:nvPr/>
        </p:nvSpPr>
        <p:spPr>
          <a:xfrm>
            <a:off x="635000" y="4419600"/>
            <a:ext cx="762000" cy="0"/>
          </a:xfrm>
          <a:prstGeom prst="line">
            <a:avLst/>
          </a:prstGeom>
          <a:ln w="19050">
            <a:solidFill>
              <a:srgbClr val="E8941A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2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438912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62179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kern="0" spc="-15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6692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188720" y="1709928"/>
            <a:ext cx="0" cy="402336"/>
          </a:xfrm>
          <a:prstGeom prst="line">
            <a:avLst/>
          </a:prstGeom>
          <a:noFill/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71600" y="1673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15" name="Text 13"/>
          <p:cNvSpPr/>
          <p:nvPr/>
        </p:nvSpPr>
        <p:spPr>
          <a:xfrm>
            <a:off x="1371600" y="1975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Knee 중심 비전 제어 + 함께 정할 결정</a:t>
            </a:r>
          </a:p>
        </p:txBody>
      </p:sp>
      <p:sp>
        <p:nvSpPr>
          <p:cNvPr id="16" name="Text 14"/>
          <p:cNvSpPr/>
          <p:nvPr/>
        </p:nvSpPr>
        <p:spPr>
          <a:xfrm>
            <a:off x="566928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1188720" y="2542032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71600" y="2505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Experiments</a:t>
            </a:r>
          </a:p>
        </p:txBody>
      </p:sp>
      <p:sp>
        <p:nvSpPr>
          <p:cNvPr id="19" name="Text 17"/>
          <p:cNvSpPr/>
          <p:nvPr/>
        </p:nvSpPr>
        <p:spPr>
          <a:xfrm>
            <a:off x="1371600" y="28072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Evolution + 안정 동작 + Dataset v3</a:t>
            </a:r>
          </a:p>
        </p:txBody>
      </p:sp>
      <p:sp>
        <p:nvSpPr>
          <p:cNvPr id="20" name="Text 18"/>
          <p:cNvSpPr/>
          <p:nvPr/>
        </p:nvSpPr>
        <p:spPr>
          <a:xfrm>
            <a:off x="566928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1188720" y="3374136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37160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Discussion</a:t>
            </a:r>
          </a:p>
        </p:txBody>
      </p:sp>
      <p:sp>
        <p:nvSpPr>
          <p:cNvPr id="23" name="Text 21"/>
          <p:cNvSpPr/>
          <p:nvPr/>
        </p:nvSpPr>
        <p:spPr>
          <a:xfrm>
            <a:off x="1371600" y="36393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빨라졌는가 · 실패 교훈 · 방향성</a:t>
            </a:r>
          </a:p>
        </p:txBody>
      </p:sp>
      <p:sp>
        <p:nvSpPr>
          <p:cNvPr id="24" name="Text 22"/>
          <p:cNvSpPr/>
          <p:nvPr/>
        </p:nvSpPr>
        <p:spPr>
          <a:xfrm>
            <a:off x="56692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1188720" y="4206240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71600" y="4169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Steps</a:t>
            </a:r>
          </a:p>
        </p:txBody>
      </p:sp>
      <p:sp>
        <p:nvSpPr>
          <p:cNvPr id="27" name="Text 25"/>
          <p:cNvSpPr/>
          <p:nvPr/>
        </p:nvSpPr>
        <p:spPr>
          <a:xfrm>
            <a:off x="1371600" y="44714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2주 — v3 → TRT → 실모터</a:t>
            </a:r>
          </a:p>
        </p:txBody>
      </p:sp>
    </p:spTree>
    <p:extLst>
      <p:ext uri="{BB962C8B-B14F-4D97-AF65-F5344CB8AC3E}">
        <p14:creationId xmlns:p14="http://schemas.microsoft.com/office/powerpoint/2010/main" val="22841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동기 — Knee 3D Trajectory 기반 제어</a:t>
            </a:r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케이블 드리븐 보조의 제어 입력으로 무엇을 관측하는 것이 가장 정확한가. 6 keypoint 중 가장 안정적인 Knee 한 점을 중심으로.</a:t>
            </a:r>
          </a:p>
        </p:txBody>
      </p:sp>
      <p:sp>
        <p:nvSpPr>
          <p:cNvPr id="9" name="Shape 7"/>
          <p:cNvSpPr/>
          <p:nvPr/>
        </p:nvSpPr>
        <p:spPr>
          <a:xfrm>
            <a:off x="438912" y="1536192"/>
            <a:ext cx="8321040" cy="0"/>
          </a:xfrm>
          <a:prstGeom prst="line">
            <a:avLst/>
          </a:prstGeom>
          <a:noFill/>
          <a:ln w="635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8912" y="1737360"/>
            <a:ext cx="91440" cy="219456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6824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Knee 3D Trajectory — 1차 관측값</a:t>
            </a:r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Hip은 상체 reference 부재로 angle 미정의, Ankle은 보행 occlusion 잦음. Knee가 가장 안정·케이블 부착점과 일치 가능.</a:t>
            </a:r>
          </a:p>
        </p:txBody>
      </p:sp>
      <p:sp>
        <p:nvSpPr>
          <p:cNvPr id="13" name="Shape 11"/>
          <p:cNvSpPr/>
          <p:nvPr/>
        </p:nvSpPr>
        <p:spPr>
          <a:xfrm>
            <a:off x="438912" y="2542032"/>
            <a:ext cx="4709160" cy="0"/>
          </a:xfrm>
          <a:prstGeom prst="line">
            <a:avLst/>
          </a:prstGeom>
          <a:noFill/>
          <a:ln w="635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8912" y="2651760"/>
            <a:ext cx="91440" cy="219456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5968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점으로 Gait Phase 분류</a:t>
            </a:r>
          </a:p>
        </p:txBody>
      </p:sp>
      <p:sp>
        <p:nvSpPr>
          <p:cNvPr id="16" name="Text 14"/>
          <p:cNvSpPr/>
          <p:nvPr/>
        </p:nvSpPr>
        <p:spPr>
          <a:xfrm>
            <a:off x="640080" y="2889504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Knee flexion peak = swing 정점, extension = stance 정점. K_stance · K_swing 위상별 gain scheduling 가능.</a:t>
            </a:r>
          </a:p>
        </p:txBody>
      </p:sp>
      <p:sp>
        <p:nvSpPr>
          <p:cNvPr id="17" name="Shape 15"/>
          <p:cNvSpPr/>
          <p:nvPr/>
        </p:nvSpPr>
        <p:spPr>
          <a:xfrm>
            <a:off x="438912" y="3456432"/>
            <a:ext cx="4709160" cy="0"/>
          </a:xfrm>
          <a:prstGeom prst="line">
            <a:avLst/>
          </a:prstGeom>
          <a:noFill/>
          <a:ln w="635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38912" y="3566160"/>
            <a:ext cx="91440" cy="219456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5112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임상 호환 + Robust 일반화</a:t>
            </a:r>
          </a:p>
        </p:txBody>
      </p:sp>
      <p:sp>
        <p:nvSpPr>
          <p:cNvPr id="20" name="Text 18"/>
          <p:cNvSpPr/>
          <p:nvPr/>
        </p:nvSpPr>
        <p:spPr>
          <a:xfrm>
            <a:off x="640080" y="3803904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Wearable 장착·재교정 없음. Dataset v3 (4 옷차림 × 6 속도) 학습으로 다양 보행 일반화.</a:t>
            </a:r>
          </a:p>
        </p:txBody>
      </p:sp>
      <p:sp>
        <p:nvSpPr>
          <p:cNvPr id="21" name="Shape 19"/>
          <p:cNvSpPr/>
          <p:nvPr/>
        </p:nvSpPr>
        <p:spPr>
          <a:xfrm>
            <a:off x="5532120" y="1572768"/>
            <a:ext cx="3154680" cy="2944368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dash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853428" y="3044952"/>
            <a:ext cx="512064" cy="0"/>
          </a:xfrm>
          <a:prstGeom prst="line">
            <a:avLst/>
          </a:prstGeom>
          <a:noFill/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109460" y="2788920"/>
            <a:ext cx="0" cy="512064"/>
          </a:xfrm>
          <a:prstGeom prst="line">
            <a:avLst/>
          </a:prstGeom>
          <a:noFill/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32120" y="27432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Motivation</a:t>
            </a:r>
          </a:p>
        </p:txBody>
      </p:sp>
      <p:sp>
        <p:nvSpPr>
          <p:cNvPr id="25" name="Text 23"/>
          <p:cNvSpPr/>
          <p:nvPr/>
        </p:nvSpPr>
        <p:spPr>
          <a:xfrm>
            <a:off x="5532120" y="30906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Knee-Centered Vision Control</a:t>
            </a:r>
          </a:p>
        </p:txBody>
      </p:sp>
      <p:sp>
        <p:nvSpPr>
          <p:cNvPr id="26" name="Text 24"/>
          <p:cNvSpPr/>
          <p:nvPr/>
        </p:nvSpPr>
        <p:spPr>
          <a:xfrm>
            <a:off x="5532120" y="459028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Fig. 1 — Knee 한 점으로 임피던스 제어 루프 closing</a:t>
            </a:r>
          </a:p>
        </p:txBody>
      </p:sp>
    </p:spTree>
    <p:extLst>
      <p:ext uri="{BB962C8B-B14F-4D97-AF65-F5344CB8AC3E}">
        <p14:creationId xmlns:p14="http://schemas.microsoft.com/office/powerpoint/2010/main" val="3607738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포즈 추정 접근법 — 왜 Vision을 택했는가</a:t>
            </a:r>
          </a:p>
        </p:txBody>
      </p:sp>
      <p:sp>
        <p:nvSpPr>
          <p:cNvPr id="8" name="Shape 6"/>
          <p:cNvSpPr/>
          <p:nvPr/>
        </p:nvSpPr>
        <p:spPr>
          <a:xfrm>
            <a:off x="438912" y="1257300"/>
            <a:ext cx="3977640" cy="36830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" y="12573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접근의 한계</a:t>
            </a:r>
          </a:p>
        </p:txBody>
      </p:sp>
      <p:sp>
        <p:nvSpPr>
          <p:cNvPr id="10" name="Shape 8"/>
          <p:cNvSpPr/>
          <p:nvPr/>
        </p:nvSpPr>
        <p:spPr>
          <a:xfrm>
            <a:off x="438912" y="1625600"/>
            <a:ext cx="3977640" cy="2971800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0080" y="1810512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1773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Marker-MoCap</a:t>
            </a:r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정확도 최고, 그러나 마커 부착·다카메라 고정 공간 필요. 임상 불가.</a:t>
            </a:r>
          </a:p>
        </p:txBody>
      </p:sp>
      <p:sp>
        <p:nvSpPr>
          <p:cNvPr id="14" name="Shape 12"/>
          <p:cNvSpPr/>
          <p:nvPr/>
        </p:nvSpPr>
        <p:spPr>
          <a:xfrm>
            <a:off x="640080" y="2688336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Wearable IMU</a:t>
            </a:r>
          </a:p>
        </p:txBody>
      </p:sp>
      <p:sp>
        <p:nvSpPr>
          <p:cNvPr id="16" name="Text 14"/>
          <p:cNvSpPr/>
          <p:nvPr/>
        </p:nvSpPr>
        <p:spPr>
          <a:xfrm>
            <a:off x="914400" y="29352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Drift 누적·장착 재현성 문제. 환자가 매번 착용해야 함.</a:t>
            </a:r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5295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 Force/EMG</a:t>
            </a:r>
          </a:p>
        </p:txBody>
      </p:sp>
      <p:sp>
        <p:nvSpPr>
          <p:cNvPr id="19" name="Text 17"/>
          <p:cNvSpPr/>
          <p:nvPr/>
        </p:nvSpPr>
        <p:spPr>
          <a:xfrm>
            <a:off x="914400" y="38130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결과만 측정, 의도·위상 직접 관측 불가.</a:t>
            </a:r>
          </a:p>
        </p:txBody>
      </p:sp>
      <p:sp>
        <p:nvSpPr>
          <p:cNvPr id="20" name="Shape 18"/>
          <p:cNvSpPr/>
          <p:nvPr/>
        </p:nvSpPr>
        <p:spPr>
          <a:xfrm>
            <a:off x="4782312" y="1257300"/>
            <a:ext cx="3977640" cy="36830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82312" y="12573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— 단일 카메라 Vision</a:t>
            </a:r>
          </a:p>
        </p:txBody>
      </p:sp>
      <p:sp>
        <p:nvSpPr>
          <p:cNvPr id="22" name="Shape 20"/>
          <p:cNvSpPr/>
          <p:nvPr/>
        </p:nvSpPr>
        <p:spPr>
          <a:xfrm>
            <a:off x="4782312" y="1625600"/>
            <a:ext cx="3977640" cy="2971800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983480" y="1810512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257800" y="1773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비접촉·마커리스</a:t>
            </a:r>
          </a:p>
        </p:txBody>
      </p:sp>
      <p:sp>
        <p:nvSpPr>
          <p:cNvPr id="25" name="Text 23"/>
          <p:cNvSpPr/>
          <p:nvPr/>
        </p:nvSpPr>
        <p:spPr>
          <a:xfrm>
            <a:off x="5257800" y="20574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ZED X Mini 1대. 환자 장착 0, 공간 제약 최소.</a:t>
            </a:r>
          </a:p>
        </p:txBody>
      </p:sp>
      <p:sp>
        <p:nvSpPr>
          <p:cNvPr id="26" name="Shape 24"/>
          <p:cNvSpPr/>
          <p:nvPr/>
        </p:nvSpPr>
        <p:spPr>
          <a:xfrm>
            <a:off x="4983480" y="2688336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257800" y="2651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관절 포즈 직접 추정</a:t>
            </a:r>
          </a:p>
        </p:txBody>
      </p:sp>
      <p:sp>
        <p:nvSpPr>
          <p:cNvPr id="28" name="Text 26"/>
          <p:cNvSpPr/>
          <p:nvPr/>
        </p:nvSpPr>
        <p:spPr>
          <a:xfrm>
            <a:off x="5257800" y="29352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하체 6 kpt 3D. 의도·위상·자세 한 번에.</a:t>
            </a:r>
          </a:p>
        </p:txBody>
      </p:sp>
      <p:sp>
        <p:nvSpPr>
          <p:cNvPr id="29" name="Shape 27"/>
          <p:cNvSpPr/>
          <p:nvPr/>
        </p:nvSpPr>
        <p:spPr>
          <a:xfrm>
            <a:off x="4983480" y="3566160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257800" y="35295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실시간·안전 보장</a:t>
            </a:r>
          </a:p>
        </p:txBody>
      </p:sp>
      <p:sp>
        <p:nvSpPr>
          <p:cNvPr id="31" name="Text 29"/>
          <p:cNvSpPr/>
          <p:nvPr/>
        </p:nvSpPr>
        <p:spPr>
          <a:xfrm>
            <a:off x="5257800" y="38130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E2E 13.7 ms, 20 ms HARD LIMIT, violation 0.</a:t>
            </a:r>
          </a:p>
        </p:txBody>
      </p:sp>
    </p:spTree>
    <p:extLst>
      <p:ext uri="{BB962C8B-B14F-4D97-AF65-F5344CB8AC3E}">
        <p14:creationId xmlns:p14="http://schemas.microsoft.com/office/powerpoint/2010/main" val="7803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비전 — 함께 정의해 나갈 방향</a:t>
            </a:r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8321040" cy="0"/>
          </a:xfrm>
          <a:prstGeom prst="line">
            <a:avLst/>
          </a:prstGeom>
          <a:noFill/>
          <a:ln w="635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" y="12435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</a:t>
            </a:r>
          </a:p>
        </p:txBody>
      </p:sp>
      <p:sp>
        <p:nvSpPr>
          <p:cNvPr id="10" name="Text 8"/>
          <p:cNvSpPr/>
          <p:nvPr/>
        </p:nvSpPr>
        <p:spPr>
          <a:xfrm>
            <a:off x="438912" y="15361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Knee 3D Trajectory를 임피던스 제어의 1차 관측값으로 삼아, 사용자 의도와 동기화되는 케이블 보조 토크를 생성하는 새 제어 패러다임.</a:t>
            </a:r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CONFIRMED — 검증된 영역</a:t>
            </a:r>
          </a:p>
        </p:txBody>
      </p:sp>
      <p:sp>
        <p:nvSpPr>
          <p:cNvPr id="12" name="Text 10"/>
          <p:cNvSpPr/>
          <p:nvPr/>
        </p:nvSpPr>
        <p:spPr>
          <a:xfrm>
            <a:off x="438912" y="25603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비전 약 14 ms 처리 / Knee 3D 안정 추정 / Dataset v3 1,300장 robustness 데이터.</a:t>
            </a:r>
          </a:p>
        </p:txBody>
      </p:sp>
      <p:sp>
        <p:nvSpPr>
          <p:cNvPr id="13" name="Text 11"/>
          <p:cNvSpPr/>
          <p:nvPr/>
        </p:nvSpPr>
        <p:spPr>
          <a:xfrm>
            <a:off x="438912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OPEN — 함께 정할 결정</a:t>
            </a:r>
          </a:p>
        </p:txBody>
      </p:sp>
      <p:sp>
        <p:nvSpPr>
          <p:cNvPr id="14" name="Text 12"/>
          <p:cNvSpPr/>
          <p:nvPr/>
        </p:nvSpPr>
        <p:spPr>
          <a:xfrm>
            <a:off x="438912" y="358444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Knee Trajectory Reference / Impedance K·D 동정 / Sim-to-Real RL 시점 / 논문 타깃·임상 IRB / Vision Publish Rate 확정 (50–60 Hz 출발 가정)</a:t>
            </a:r>
          </a:p>
        </p:txBody>
      </p:sp>
      <p:sp>
        <p:nvSpPr>
          <p:cNvPr id="15" name="Shape 13"/>
          <p:cNvSpPr/>
          <p:nvPr/>
        </p:nvSpPr>
        <p:spPr>
          <a:xfrm>
            <a:off x="3886200" y="1170432"/>
            <a:ext cx="4828032" cy="3383280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dash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Shape 14"/>
          <p:cNvSpPr/>
          <p:nvPr/>
        </p:nvSpPr>
        <p:spPr>
          <a:xfrm>
            <a:off x="3886200" y="1170432"/>
            <a:ext cx="18288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86200" y="1170432"/>
            <a:ext cx="0" cy="18288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714232" y="117043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714232" y="1170432"/>
            <a:ext cx="0" cy="18288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886200" y="4553712"/>
            <a:ext cx="18288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886200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714232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714232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886200" y="2633472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5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Direction</a:t>
            </a:r>
          </a:p>
        </p:txBody>
      </p:sp>
      <p:sp>
        <p:nvSpPr>
          <p:cNvPr id="25" name="Text 23"/>
          <p:cNvSpPr/>
          <p:nvPr/>
        </p:nvSpPr>
        <p:spPr>
          <a:xfrm>
            <a:off x="3886200" y="3026664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 Discussion</a:t>
            </a:r>
          </a:p>
        </p:txBody>
      </p:sp>
      <p:sp>
        <p:nvSpPr>
          <p:cNvPr id="26" name="Text 24"/>
          <p:cNvSpPr/>
          <p:nvPr/>
        </p:nvSpPr>
        <p:spPr>
          <a:xfrm>
            <a:off x="3886200" y="4608576"/>
            <a:ext cx="4828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Fig. 2 — 함께 다듬어야 할 결정의 영역</a:t>
            </a:r>
          </a:p>
        </p:txBody>
      </p:sp>
    </p:spTree>
    <p:extLst>
      <p:ext uri="{BB962C8B-B14F-4D97-AF65-F5344CB8AC3E}">
        <p14:creationId xmlns:p14="http://schemas.microsoft.com/office/powerpoint/2010/main" val="383321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BAD8308-9610-4D1F-A9F6-7137CDA0F2B3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다음 2주 Task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92198-D156-4F1E-8BAB-C00A609DDE67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Paper-quality 수치 확보 · 실모터 구동 dry-run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586B9C-0B35-4EAC-A771-08355EFBAE10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E0D3B0F-32CD-4F78-9849-7410A23692CD}"/>
              </a:ext>
            </a:extLst>
          </p:cNvPr>
          <p:cNvSpPr/>
          <p:nvPr/>
        </p:nvSpPr>
        <p:spPr>
          <a:xfrm>
            <a:off x="8509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C31671-8AF0-45FA-806A-7090A5A26F53}"/>
              </a:ext>
            </a:extLst>
          </p:cNvPr>
          <p:cNvSpPr/>
          <p:nvPr/>
        </p:nvSpPr>
        <p:spPr>
          <a:xfrm>
            <a:off x="8509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03ACE93-630A-40C8-B9E3-AEE83863B84A}"/>
              </a:ext>
            </a:extLst>
          </p:cNvPr>
          <p:cNvSpPr/>
          <p:nvPr/>
        </p:nvSpPr>
        <p:spPr>
          <a:xfrm>
            <a:off x="14351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77131-EF35-4032-9D08-F586506B97D4}"/>
              </a:ext>
            </a:extLst>
          </p:cNvPr>
          <p:cNvSpPr txBox="1"/>
          <p:nvPr/>
        </p:nvSpPr>
        <p:spPr>
          <a:xfrm>
            <a:off x="9779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v3 학습 완료 +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val mAP 확인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F98C5F5F-86B9-43BC-B3BB-16B54BB39F2D}"/>
              </a:ext>
            </a:extLst>
          </p:cNvPr>
          <p:cNvSpPr/>
          <p:nvPr/>
        </p:nvSpPr>
        <p:spPr>
          <a:xfrm>
            <a:off x="25273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F6130DD-8D26-4819-84CA-58D842ED4B5C}"/>
              </a:ext>
            </a:extLst>
          </p:cNvPr>
          <p:cNvSpPr/>
          <p:nvPr/>
        </p:nvSpPr>
        <p:spPr>
          <a:xfrm>
            <a:off x="27813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BBBC1C-660A-4DFC-864D-BDB4ED0CC8C5}"/>
              </a:ext>
            </a:extLst>
          </p:cNvPr>
          <p:cNvSpPr/>
          <p:nvPr/>
        </p:nvSpPr>
        <p:spPr>
          <a:xfrm>
            <a:off x="27813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EA7A501-CBB2-4429-891C-17780F2094D5}"/>
              </a:ext>
            </a:extLst>
          </p:cNvPr>
          <p:cNvSpPr/>
          <p:nvPr/>
        </p:nvSpPr>
        <p:spPr>
          <a:xfrm>
            <a:off x="33655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6AA516-A4F2-40AE-AA23-3875B4CA048F}"/>
              </a:ext>
            </a:extLst>
          </p:cNvPr>
          <p:cNvSpPr txBox="1"/>
          <p:nvPr/>
        </p:nvSpPr>
        <p:spPr>
          <a:xfrm>
            <a:off x="29083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TRT FP16 export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+ Pipeline 적용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041A49A3-721A-45F4-94DD-92E415F54EA6}"/>
              </a:ext>
            </a:extLst>
          </p:cNvPr>
          <p:cNvSpPr/>
          <p:nvPr/>
        </p:nvSpPr>
        <p:spPr>
          <a:xfrm>
            <a:off x="44577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39DEDCC-4FB0-4CD7-951C-1635F701EE14}"/>
              </a:ext>
            </a:extLst>
          </p:cNvPr>
          <p:cNvSpPr/>
          <p:nvPr/>
        </p:nvSpPr>
        <p:spPr>
          <a:xfrm>
            <a:off x="47117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11E96D-7BF2-4396-9369-FC4C733AF66E}"/>
              </a:ext>
            </a:extLst>
          </p:cNvPr>
          <p:cNvSpPr/>
          <p:nvPr/>
        </p:nvSpPr>
        <p:spPr>
          <a:xfrm>
            <a:off x="47117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8AA267C-0D6C-482B-AEBB-B0E2F4AC10F8}"/>
              </a:ext>
            </a:extLst>
          </p:cNvPr>
          <p:cNvSpPr/>
          <p:nvPr/>
        </p:nvSpPr>
        <p:spPr>
          <a:xfrm>
            <a:off x="52959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3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AD0956-5797-4F78-AFC3-053A15442CBE}"/>
              </a:ext>
            </a:extLst>
          </p:cNvPr>
          <p:cNvSpPr txBox="1"/>
          <p:nvPr/>
        </p:nvSpPr>
        <p:spPr>
          <a:xfrm>
            <a:off x="48387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C++ + Teensy +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AK60 실모터 dry-run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C37D7A2F-9A00-4A3B-AAAF-93E7BFF99D0A}"/>
              </a:ext>
            </a:extLst>
          </p:cNvPr>
          <p:cNvSpPr/>
          <p:nvPr/>
        </p:nvSpPr>
        <p:spPr>
          <a:xfrm>
            <a:off x="63881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F25B66F-9861-4BEF-B950-825E7466D934}"/>
              </a:ext>
            </a:extLst>
          </p:cNvPr>
          <p:cNvSpPr/>
          <p:nvPr/>
        </p:nvSpPr>
        <p:spPr>
          <a:xfrm>
            <a:off x="66421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9DD9E55-7625-4DF7-9EE7-86C4DF9848F3}"/>
              </a:ext>
            </a:extLst>
          </p:cNvPr>
          <p:cNvSpPr/>
          <p:nvPr/>
        </p:nvSpPr>
        <p:spPr>
          <a:xfrm>
            <a:off x="66421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B8C5FD4-2724-4EDD-8E6A-EF0921EF0C56}"/>
              </a:ext>
            </a:extLst>
          </p:cNvPr>
          <p:cNvSpPr/>
          <p:nvPr/>
        </p:nvSpPr>
        <p:spPr>
          <a:xfrm>
            <a:off x="72263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4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45C404-ADE4-4811-BFD7-619C8F4E4802}"/>
              </a:ext>
            </a:extLst>
          </p:cNvPr>
          <p:cNvSpPr txBox="1"/>
          <p:nvPr/>
        </p:nvSpPr>
        <p:spPr>
          <a:xfrm>
            <a:off x="67691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Knee Trajectory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실측 + Rate 검증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FEE863-29E6-416A-BE44-AD9790BF0C50}"/>
              </a:ext>
            </a:extLst>
          </p:cNvPr>
          <p:cNvSpPr txBox="1"/>
          <p:nvPr/>
        </p:nvSpPr>
        <p:spPr>
          <a:xfrm>
            <a:off x="8509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Train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9F3410-22F0-44A5-8DC6-41CA26754AB9}"/>
              </a:ext>
            </a:extLst>
          </p:cNvPr>
          <p:cNvSpPr txBox="1"/>
          <p:nvPr/>
        </p:nvSpPr>
        <p:spPr>
          <a:xfrm>
            <a:off x="27813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Deploy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265EF3-9577-40A2-853B-F3B507ABDA9C}"/>
              </a:ext>
            </a:extLst>
          </p:cNvPr>
          <p:cNvSpPr txBox="1"/>
          <p:nvPr/>
        </p:nvSpPr>
        <p:spPr>
          <a:xfrm>
            <a:off x="47117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Motor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945C2D-8EDF-4046-BAAB-A30B974E6240}"/>
              </a:ext>
            </a:extLst>
          </p:cNvPr>
          <p:cNvSpPr txBox="1"/>
          <p:nvPr/>
        </p:nvSpPr>
        <p:spPr>
          <a:xfrm>
            <a:off x="66421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Rate</a:t>
            </a:r>
          </a:p>
        </p:txBody>
      </p:sp>
    </p:spTree>
    <p:extLst>
      <p:ext uri="{BB962C8B-B14F-4D97-AF65-F5344CB8AC3E}">
        <p14:creationId xmlns:p14="http://schemas.microsoft.com/office/powerpoint/2010/main" val="313206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/>
        </p:nvSpPr>
        <p:spPr>
          <a:xfrm>
            <a:off x="444500" y="355600"/>
            <a:ext cx="8255000" cy="609600"/>
          </a:xfrm>
          <a:prstGeom prst="rect">
            <a:avLst/>
          </a:prstGeom>
          <a:noFill/>
        </p:spPr>
        <p:txBody>
          <a:bodyPr wrap="square" anchor="b" anchorCtr="0"/>
          <a:lstStyle/>
          <a:p>
            <a:pPr marL="0" indent="0">
              <a:buNone/>
            </a:pPr>
            <a:r>
              <a:rPr lang="ko-KR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1 — 12개 Pose 모델 벤치마크</a:t>
            </a:r>
          </a:p>
        </p:txBody>
      </p:sp>
      <p:sp>
        <p:nvSpPr>
          <p:cNvPr id="203" name="Header0"/>
          <p:cNvSpPr/>
          <p:nvPr/>
        </p:nvSpPr>
        <p:spPr>
          <a:xfrm>
            <a:off x="444500" y="1117600"/>
            <a:ext cx="1651000" cy="381000"/>
          </a:xfrm>
          <a:prstGeom prst="rect">
            <a:avLst/>
          </a:prstGeom>
          <a:solidFill>
            <a:srgbClr val="171B5E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지표</a:t>
            </a:r>
          </a:p>
        </p:txBody>
      </p:sp>
      <p:sp>
        <p:nvSpPr>
          <p:cNvPr id="204" name="Header1"/>
          <p:cNvSpPr/>
          <p:nvPr/>
        </p:nvSpPr>
        <p:spPr>
          <a:xfrm>
            <a:off x="2095500" y="1117600"/>
            <a:ext cx="21971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YOLOv8n-Pose  ★</a:t>
            </a:r>
          </a:p>
        </p:txBody>
      </p:sp>
      <p:sp>
        <p:nvSpPr>
          <p:cNvPr id="205" name="Header2"/>
          <p:cNvSpPr/>
          <p:nvPr/>
        </p:nvSpPr>
        <p:spPr>
          <a:xfrm>
            <a:off x="4292600" y="1117600"/>
            <a:ext cx="21971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YOLO26s-Pose</a:t>
            </a:r>
          </a:p>
        </p:txBody>
      </p:sp>
      <p:sp>
        <p:nvSpPr>
          <p:cNvPr id="206" name="Header3"/>
          <p:cNvSpPr/>
          <p:nvPr/>
        </p:nvSpPr>
        <p:spPr>
          <a:xfrm>
            <a:off x="6489700" y="1117600"/>
            <a:ext cx="22098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MediaPipe / RTMPose</a:t>
            </a:r>
          </a:p>
        </p:txBody>
      </p:sp>
      <p:sp>
        <p:nvSpPr>
          <p:cNvPr id="207" name="Cell0_0"/>
          <p:cNvSpPr/>
          <p:nvPr/>
        </p:nvSpPr>
        <p:spPr>
          <a:xfrm>
            <a:off x="444500" y="14986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E2E mean</a:t>
            </a:r>
          </a:p>
        </p:txBody>
      </p:sp>
      <p:sp>
        <p:nvSpPr>
          <p:cNvPr id="208" name="Cell0_1"/>
          <p:cNvSpPr/>
          <p:nvPr/>
        </p:nvSpPr>
        <p:spPr>
          <a:xfrm>
            <a:off x="2095500" y="14986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35 ms (가장 빠름)</a:t>
            </a:r>
          </a:p>
        </p:txBody>
      </p:sp>
      <p:sp>
        <p:nvSpPr>
          <p:cNvPr id="209" name="Cell0_2"/>
          <p:cNvSpPr/>
          <p:nvPr/>
        </p:nvSpPr>
        <p:spPr>
          <a:xfrm>
            <a:off x="4292600" y="14986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44 ms (&lt;50 ms 아슬)</a:t>
            </a:r>
          </a:p>
        </p:txBody>
      </p:sp>
      <p:sp>
        <p:nvSpPr>
          <p:cNvPr id="210" name="Cell0_3"/>
          <p:cNvSpPr/>
          <p:nvPr/>
        </p:nvSpPr>
        <p:spPr>
          <a:xfrm>
            <a:off x="6489700" y="1498600"/>
            <a:ext cx="22098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64 / 150+ (실패)</a:t>
            </a:r>
          </a:p>
        </p:txBody>
      </p:sp>
      <p:sp>
        <p:nvSpPr>
          <p:cNvPr id="211" name="Cell1_0"/>
          <p:cNvSpPr/>
          <p:nvPr/>
        </p:nvSpPr>
        <p:spPr>
          <a:xfrm>
            <a:off x="444500" y="22352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FPS</a:t>
            </a:r>
          </a:p>
        </p:txBody>
      </p:sp>
      <p:sp>
        <p:nvSpPr>
          <p:cNvPr id="212" name="Cell1_1"/>
          <p:cNvSpPr/>
          <p:nvPr/>
        </p:nvSpPr>
        <p:spPr>
          <a:xfrm>
            <a:off x="2095500" y="22352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28</a:t>
            </a:r>
          </a:p>
        </p:txBody>
      </p:sp>
      <p:sp>
        <p:nvSpPr>
          <p:cNvPr id="213" name="Cell1_2"/>
          <p:cNvSpPr/>
          <p:nvPr/>
        </p:nvSpPr>
        <p:spPr>
          <a:xfrm>
            <a:off x="4292600" y="22352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22</a:t>
            </a:r>
          </a:p>
        </p:txBody>
      </p:sp>
      <p:sp>
        <p:nvSpPr>
          <p:cNvPr id="214" name="Cell1_3"/>
          <p:cNvSpPr/>
          <p:nvPr/>
        </p:nvSpPr>
        <p:spPr>
          <a:xfrm>
            <a:off x="6489700" y="2235200"/>
            <a:ext cx="22098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16 / 7</a:t>
            </a:r>
          </a:p>
        </p:txBody>
      </p:sp>
      <p:sp>
        <p:nvSpPr>
          <p:cNvPr id="215" name="Cell2_0"/>
          <p:cNvSpPr/>
          <p:nvPr/>
        </p:nvSpPr>
        <p:spPr>
          <a:xfrm>
            <a:off x="444500" y="29718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E2E &lt;50 ms</a:t>
            </a:r>
          </a:p>
        </p:txBody>
      </p:sp>
      <p:sp>
        <p:nvSpPr>
          <p:cNvPr id="216" name="Cell2_1"/>
          <p:cNvSpPr/>
          <p:nvPr/>
        </p:nvSpPr>
        <p:spPr>
          <a:xfrm>
            <a:off x="2095500" y="29718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전 frame 통과</a:t>
            </a:r>
          </a:p>
        </p:txBody>
      </p:sp>
      <p:sp>
        <p:nvSpPr>
          <p:cNvPr id="217" name="Cell2_2"/>
          <p:cNvSpPr/>
          <p:nvPr/>
        </p:nvSpPr>
        <p:spPr>
          <a:xfrm>
            <a:off x="4292600" y="29718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거의 전 frame</a:t>
            </a:r>
          </a:p>
        </p:txBody>
      </p:sp>
      <p:sp>
        <p:nvSpPr>
          <p:cNvPr id="218" name="Cell2_3"/>
          <p:cNvSpPr/>
          <p:nvPr/>
        </p:nvSpPr>
        <p:spPr>
          <a:xfrm>
            <a:off x="6489700" y="2971800"/>
            <a:ext cx="22098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사실상 실패</a:t>
            </a:r>
          </a:p>
        </p:txBody>
      </p:sp>
      <p:sp>
        <p:nvSpPr>
          <p:cNvPr id="219" name="Cell3_0"/>
          <p:cNvSpPr/>
          <p:nvPr/>
        </p:nvSpPr>
        <p:spPr>
          <a:xfrm>
            <a:off x="444500" y="37084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인식 / Conf</a:t>
            </a:r>
          </a:p>
        </p:txBody>
      </p:sp>
      <p:sp>
        <p:nvSpPr>
          <p:cNvPr id="220" name="Cell3_1"/>
          <p:cNvSpPr/>
          <p:nvPr/>
        </p:nvSpPr>
        <p:spPr>
          <a:xfrm>
            <a:off x="2095500" y="37084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안정 / 0.97</a:t>
            </a:r>
          </a:p>
        </p:txBody>
      </p:sp>
      <p:sp>
        <p:nvSpPr>
          <p:cNvPr id="221" name="Cell3_2"/>
          <p:cNvSpPr/>
          <p:nvPr/>
        </p:nvSpPr>
        <p:spPr>
          <a:xfrm>
            <a:off x="4292600" y="37084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안정 / 0.99</a:t>
            </a:r>
          </a:p>
        </p:txBody>
      </p:sp>
      <p:sp>
        <p:nvSpPr>
          <p:cNvPr id="222" name="Cell3_3"/>
          <p:cNvSpPr/>
          <p:nvPr/>
        </p:nvSpPr>
        <p:spPr>
          <a:xfrm>
            <a:off x="6489700" y="3708400"/>
            <a:ext cx="22098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불안정 / 0.77</a:t>
            </a:r>
          </a:p>
        </p:txBody>
      </p:sp>
      <p:sp>
        <p:nvSpPr>
          <p:cNvPr id="223" name="Footnote"/>
          <p:cNvSpPr txBox="1"/>
          <p:nvPr/>
        </p:nvSpPr>
        <p:spPr>
          <a:xfrm>
            <a:off x="444500" y="4546600"/>
            <a:ext cx="8255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lang="ko-KR" sz="9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</a:rPr>
              <a:t>* Jetson Orin NX 16GB · ZED X Mini SVGA@120 · TRT FP16 · 15s 측정</a:t>
            </a:r>
          </a:p>
        </p:txBody>
      </p:sp>
    </p:spTree>
    <p:extLst>
      <p:ext uri="{BB962C8B-B14F-4D97-AF65-F5344CB8AC3E}">
        <p14:creationId xmlns:p14="http://schemas.microsoft.com/office/powerpoint/2010/main" val="286295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안정 동작 + 제어 Publish Rate (출발선)</a:t>
            </a:r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Camera 120 Hz → Pipeline 약 80 Hz → Publish 50–60 Hz → C++ 100 Hz → Motor</a:t>
            </a:r>
          </a:p>
        </p:txBody>
      </p:sp>
      <p:sp>
        <p:nvSpPr>
          <p:cNvPr id="9" name="Shape 7"/>
          <p:cNvSpPr/>
          <p:nvPr/>
        </p:nvSpPr>
        <p:spPr>
          <a:xfrm>
            <a:off x="438912" y="1481328"/>
            <a:ext cx="2651760" cy="2670048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8912" y="1481328"/>
            <a:ext cx="2651760" cy="5029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03504" y="162763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14 ms</a:t>
            </a:r>
          </a:p>
        </p:txBody>
      </p:sp>
      <p:sp>
        <p:nvSpPr>
          <p:cNvPr id="12" name="Text 10"/>
          <p:cNvSpPr/>
          <p:nvPr/>
        </p:nvSpPr>
        <p:spPr>
          <a:xfrm>
            <a:off x="603504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latency 평균</a:t>
            </a:r>
          </a:p>
        </p:txBody>
      </p:sp>
      <p:sp>
        <p:nvSpPr>
          <p:cNvPr id="13" name="Text 11"/>
          <p:cNvSpPr/>
          <p:nvPr/>
        </p:nvSpPr>
        <p:spPr>
          <a:xfrm>
            <a:off x="603504" y="3017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반응의 약 1/7</a:t>
            </a:r>
          </a:p>
        </p:txBody>
      </p:sp>
      <p:sp>
        <p:nvSpPr>
          <p:cNvPr id="14" name="Shape 12"/>
          <p:cNvSpPr/>
          <p:nvPr/>
        </p:nvSpPr>
        <p:spPr>
          <a:xfrm>
            <a:off x="3291840" y="1481328"/>
            <a:ext cx="2651760" cy="2670048"/>
          </a:xfrm>
          <a:prstGeom prst="rect">
            <a:avLst/>
          </a:prstGeom>
          <a:solidFill>
            <a:srgbClr val="EDE9E1"/>
          </a:solidFill>
          <a:ln w="12700">
            <a:solidFill>
              <a:srgbClr val="D8DC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91840" y="1481328"/>
            <a:ext cx="2651760" cy="5029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456432" y="162763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B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80 Hz</a:t>
            </a:r>
          </a:p>
        </p:txBody>
      </p:sp>
      <p:sp>
        <p:nvSpPr>
          <p:cNvPr id="17" name="Text 15"/>
          <p:cNvSpPr/>
          <p:nvPr/>
        </p:nvSpPr>
        <p:spPr>
          <a:xfrm>
            <a:off x="3456432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처리 가능</a:t>
            </a:r>
          </a:p>
        </p:txBody>
      </p:sp>
      <p:sp>
        <p:nvSpPr>
          <p:cNvPr id="18" name="Text 16"/>
          <p:cNvSpPr/>
          <p:nvPr/>
        </p:nvSpPr>
        <p:spPr>
          <a:xfrm>
            <a:off x="3456432" y="3017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altLang="ko-KR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Publish rate에 margin</a:t>
            </a:r>
          </a:p>
        </p:txBody>
      </p:sp>
      <p:sp>
        <p:nvSpPr>
          <p:cNvPr id="19" name="Shape 17"/>
          <p:cNvSpPr/>
          <p:nvPr/>
        </p:nvSpPr>
        <p:spPr>
          <a:xfrm>
            <a:off x="6144768" y="1481328"/>
            <a:ext cx="2651760" cy="2670048"/>
          </a:xfrm>
          <a:prstGeom prst="rect">
            <a:avLst/>
          </a:prstGeom>
          <a:solidFill>
            <a:srgbClr val="EDE9E1"/>
          </a:solidFill>
          <a:ln w="12700">
            <a:solidFill>
              <a:srgbClr val="D8DC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144768" y="1481328"/>
            <a:ext cx="2651760" cy="5029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09360" y="162763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B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50–60 Hz</a:t>
            </a:r>
          </a:p>
        </p:txBody>
      </p:sp>
      <p:sp>
        <p:nvSpPr>
          <p:cNvPr id="22" name="Text 20"/>
          <p:cNvSpPr/>
          <p:nvPr/>
        </p:nvSpPr>
        <p:spPr>
          <a:xfrm>
            <a:off x="6309360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Publish rate (출발 가정)</a:t>
            </a:r>
          </a:p>
        </p:txBody>
      </p:sp>
      <p:sp>
        <p:nvSpPr>
          <p:cNvPr id="23" name="Text 21"/>
          <p:cNvSpPr/>
          <p:nvPr/>
        </p:nvSpPr>
        <p:spPr>
          <a:xfrm>
            <a:off x="6309360" y="3017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altLang="ko-KR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확정은 실측 후</a:t>
            </a:r>
          </a:p>
        </p:txBody>
      </p:sp>
      <p:sp>
        <p:nvSpPr>
          <p:cNvPr id="24" name="Text 22"/>
          <p:cNvSpPr/>
          <p:nvPr/>
        </p:nvSpPr>
        <p:spPr>
          <a:xfrm>
            <a:off x="438912" y="42428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180 s 연속 동작 검증 — Hard Limit 위반 거의 없음. 정확한 publish rate은 실측 후 확정 (slide 4 OPEN 항목)</a:t>
            </a:r>
          </a:p>
        </p:txBody>
      </p:sp>
    </p:spTree>
    <p:extLst>
      <p:ext uri="{BB962C8B-B14F-4D97-AF65-F5344CB8AC3E}">
        <p14:creationId xmlns:p14="http://schemas.microsoft.com/office/powerpoint/2010/main" val="891839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10DC7C7-DB24-490C-AF9F-04B21EA6561F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종합 성과 — 약 3× 가속 + 안정 동작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D8A13-E95B-4EAB-9F9C-D043E32E87A9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Baseline 약 44 ms → 최종 약 14 ms / 약 80 Hz / 180 s 검증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334676-7938-4EAF-B82F-903F3BF9D115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705F9F8-8F99-4867-9C58-555327F50F01}"/>
              </a:ext>
            </a:extLst>
          </p:cNvPr>
          <p:cNvSpPr/>
          <p:nvPr/>
        </p:nvSpPr>
        <p:spPr>
          <a:xfrm>
            <a:off x="444500" y="15748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2D624F-26CF-456A-89C1-050292DB320C}"/>
              </a:ext>
            </a:extLst>
          </p:cNvPr>
          <p:cNvSpPr/>
          <p:nvPr/>
        </p:nvSpPr>
        <p:spPr>
          <a:xfrm>
            <a:off x="444500" y="15748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6B7F3C-71C6-438E-89DB-BA565103AD03}"/>
              </a:ext>
            </a:extLst>
          </p:cNvPr>
          <p:cNvSpPr txBox="1"/>
          <p:nvPr/>
        </p:nvSpPr>
        <p:spPr>
          <a:xfrm>
            <a:off x="673100" y="17018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약 3×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0377C-9AE4-46E2-9E8B-8ED4482DB4C6}"/>
              </a:ext>
            </a:extLst>
          </p:cNvPr>
          <p:cNvSpPr txBox="1"/>
          <p:nvPr/>
        </p:nvSpPr>
        <p:spPr>
          <a:xfrm>
            <a:off x="673100" y="22352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E2E Speedup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A65C12-53DA-46E9-B72E-8946F98C20FD}"/>
              </a:ext>
            </a:extLst>
          </p:cNvPr>
          <p:cNvSpPr txBox="1"/>
          <p:nvPr/>
        </p:nvSpPr>
        <p:spPr>
          <a:xfrm>
            <a:off x="673100" y="25654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44 → 14 ms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CA2951F-FA75-49AB-9868-5B4A4EAC8459}"/>
              </a:ext>
            </a:extLst>
          </p:cNvPr>
          <p:cNvSpPr/>
          <p:nvPr/>
        </p:nvSpPr>
        <p:spPr>
          <a:xfrm>
            <a:off x="4711700" y="15748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FCAD5D-967F-4950-96F5-2E6337C6A464}"/>
              </a:ext>
            </a:extLst>
          </p:cNvPr>
          <p:cNvSpPr/>
          <p:nvPr/>
        </p:nvSpPr>
        <p:spPr>
          <a:xfrm>
            <a:off x="4711700" y="15748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C16C2A-A313-49B9-8EC8-F86D7D276764}"/>
              </a:ext>
            </a:extLst>
          </p:cNvPr>
          <p:cNvSpPr txBox="1"/>
          <p:nvPr/>
        </p:nvSpPr>
        <p:spPr>
          <a:xfrm>
            <a:off x="4940300" y="17018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≈ 14 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20E2E0-C3E6-4475-AD4C-36E1EBCE9C6A}"/>
              </a:ext>
            </a:extLst>
          </p:cNvPr>
          <p:cNvSpPr txBox="1"/>
          <p:nvPr/>
        </p:nvSpPr>
        <p:spPr>
          <a:xfrm>
            <a:off x="4940300" y="22352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Final E2E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20FCB5-8DBD-4DA3-91D7-3A0F9F7E1D8F}"/>
              </a:ext>
            </a:extLst>
          </p:cNvPr>
          <p:cNvSpPr txBox="1"/>
          <p:nvPr/>
        </p:nvSpPr>
        <p:spPr>
          <a:xfrm>
            <a:off x="4940300" y="25654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Pipeline 안정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C49D8C8-D111-4930-B1BD-845F671F7275}"/>
              </a:ext>
            </a:extLst>
          </p:cNvPr>
          <p:cNvSpPr/>
          <p:nvPr/>
        </p:nvSpPr>
        <p:spPr>
          <a:xfrm>
            <a:off x="444500" y="32131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5B4310-8860-4B46-80A7-2E312A4F0DBD}"/>
              </a:ext>
            </a:extLst>
          </p:cNvPr>
          <p:cNvSpPr/>
          <p:nvPr/>
        </p:nvSpPr>
        <p:spPr>
          <a:xfrm>
            <a:off x="444500" y="32131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609268-A3FC-4AA6-8805-D98E14628B16}"/>
              </a:ext>
            </a:extLst>
          </p:cNvPr>
          <p:cNvSpPr txBox="1"/>
          <p:nvPr/>
        </p:nvSpPr>
        <p:spPr>
          <a:xfrm>
            <a:off x="673100" y="33401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≈ 80 Hz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5867E4-AF66-47F5-A9B7-23EF299E869C}"/>
              </a:ext>
            </a:extLst>
          </p:cNvPr>
          <p:cNvSpPr txBox="1"/>
          <p:nvPr/>
        </p:nvSpPr>
        <p:spPr>
          <a:xfrm>
            <a:off x="673100" y="3873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Pose 처리율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AF8AE8-08BC-401D-9A23-7FB5A611D47D}"/>
              </a:ext>
            </a:extLst>
          </p:cNvPr>
          <p:cNvSpPr txBox="1"/>
          <p:nvPr/>
        </p:nvSpPr>
        <p:spPr>
          <a:xfrm>
            <a:off x="673100" y="42037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충분한 여유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A140929-70E2-418B-BA69-16CD98B11A34}"/>
              </a:ext>
            </a:extLst>
          </p:cNvPr>
          <p:cNvSpPr/>
          <p:nvPr/>
        </p:nvSpPr>
        <p:spPr>
          <a:xfrm>
            <a:off x="4711700" y="32131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CE618A-0EDA-4634-A0D7-C08D57B38FD9}"/>
              </a:ext>
            </a:extLst>
          </p:cNvPr>
          <p:cNvSpPr/>
          <p:nvPr/>
        </p:nvSpPr>
        <p:spPr>
          <a:xfrm>
            <a:off x="4711700" y="32131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429E6A-E105-44A7-BFA9-3C9DF5F43DC5}"/>
              </a:ext>
            </a:extLst>
          </p:cNvPr>
          <p:cNvSpPr txBox="1"/>
          <p:nvPr/>
        </p:nvSpPr>
        <p:spPr>
          <a:xfrm>
            <a:off x="4940300" y="33401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거의 없음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01A257-CC51-4FE8-B2E3-CF0FC42F2101}"/>
              </a:ext>
            </a:extLst>
          </p:cNvPr>
          <p:cNvSpPr txBox="1"/>
          <p:nvPr/>
        </p:nvSpPr>
        <p:spPr>
          <a:xfrm>
            <a:off x="4940300" y="3873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Hard Limit 위반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09E7E8-16C2-467F-82E7-1910DA75920F}"/>
              </a:ext>
            </a:extLst>
          </p:cNvPr>
          <p:cNvSpPr txBox="1"/>
          <p:nvPr/>
        </p:nvSpPr>
        <p:spPr>
          <a:xfrm>
            <a:off x="4940300" y="42037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180 s 검증</a:t>
            </a:r>
          </a:p>
        </p:txBody>
      </p:sp>
    </p:spTree>
    <p:extLst>
      <p:ext uri="{BB962C8B-B14F-4D97-AF65-F5344CB8AC3E}">
        <p14:creationId xmlns:p14="http://schemas.microsoft.com/office/powerpoint/2010/main" val="2146910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F25DA9-889C-4907-9653-1789D1559832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왜 빨라졌는가 — 무엇을 정상화했는가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838D8-A683-411D-B284-53696EC1339F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44.4 → 13.7 ms 가속의 원인을 6개 카테고리로 분해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677ECC-D16D-4665-8D47-6F9C6009D06D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A49E2EF-35E5-42DC-A495-A9959CFF4373}"/>
              </a:ext>
            </a:extLst>
          </p:cNvPr>
          <p:cNvSpPr/>
          <p:nvPr/>
        </p:nvSpPr>
        <p:spPr>
          <a:xfrm>
            <a:off x="1016000" y="1752600"/>
            <a:ext cx="7112000" cy="2540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2ECC61-FDB7-4619-B4D8-927694977239}"/>
              </a:ext>
            </a:extLst>
          </p:cNvPr>
          <p:cNvSpPr/>
          <p:nvPr/>
        </p:nvSpPr>
        <p:spPr>
          <a:xfrm>
            <a:off x="1016000" y="1752600"/>
            <a:ext cx="76200" cy="25400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5D65D-805B-4604-9C6E-70450654E96F}"/>
              </a:ext>
            </a:extLst>
          </p:cNvPr>
          <p:cNvSpPr txBox="1"/>
          <p:nvPr/>
        </p:nvSpPr>
        <p:spPr>
          <a:xfrm>
            <a:off x="1270000" y="1714500"/>
            <a:ext cx="63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48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33211D-E8C5-40A0-9BE7-70394F0FB35B}"/>
              </a:ext>
            </a:extLst>
          </p:cNvPr>
          <p:cNvSpPr txBox="1"/>
          <p:nvPr/>
        </p:nvSpPr>
        <p:spPr>
          <a:xfrm>
            <a:off x="1397000" y="2286000"/>
            <a:ext cx="635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1. 연산량 감소 (-26.4 ms) : Head 17→6 kpt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2. 파이프라인 오버랩 (-9.4 ms) : ready_rgb / depth split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3. 프레임워크 우회 (-9 ms) : DirectTRT + C++ post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4. GPU·OS 최대화 : jetson_clocks + MAXN + gc.off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5. 경합 제거 : CPU isolation + SCHED_FIFO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6. 실시간성 보장 : 20 ms HARD LIMIT + SHM seqlock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42C8B0-CF7E-4B87-8964-74D37C60197D}"/>
              </a:ext>
            </a:extLst>
          </p:cNvPr>
          <p:cNvSpPr txBox="1"/>
          <p:nvPr/>
        </p:nvSpPr>
        <p:spPr>
          <a:xfrm>
            <a:off x="1397000" y="34290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— 핵심 설계 원칙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856BBF-85A0-4E57-8746-9F3B964B37CE}"/>
              </a:ext>
            </a:extLst>
          </p:cNvPr>
          <p:cNvSpPr txBox="1"/>
          <p:nvPr/>
        </p:nvSpPr>
        <p:spPr>
          <a:xfrm>
            <a:off x="1016000" y="4419600"/>
            <a:ext cx="711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B0B8CC"/>
                </a:solidFill>
                <a:latin typeface="Pretendard"/>
                <a:ea typeface="Pretendard"/>
                <a:cs typeface="Pretendard"/>
              </a:rPr>
              <a:t>"속도는 자원 분배의 문제" — I/O는 숨기고, 프레임워크는 벗기고, 하드웨어는 고정.</a:t>
            </a:r>
          </a:p>
        </p:txBody>
      </p:sp>
    </p:spTree>
    <p:extLst>
      <p:ext uri="{BB962C8B-B14F-4D97-AF65-F5344CB8AC3E}">
        <p14:creationId xmlns:p14="http://schemas.microsoft.com/office/powerpoint/2010/main" val="3629894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5D55D6C-49D6-44F7-9DC5-84BBC64279C3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시스템 아키텍처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820F22-17B0-4B9E-883C-E8BDD445C744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Perception → IPC · Safety → C++ Impedance → Motor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C0F998-D67B-458A-A816-EA9527A012E6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0D814D-045C-467C-933D-FEFD7DDAA429}"/>
              </a:ext>
            </a:extLst>
          </p:cNvPr>
          <p:cNvSpPr/>
          <p:nvPr/>
        </p:nvSpPr>
        <p:spPr>
          <a:xfrm>
            <a:off x="444500" y="1574800"/>
            <a:ext cx="8255000" cy="2857500"/>
          </a:xfrm>
          <a:prstGeom prst="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AC6F1B-2FA1-4715-B73F-F8B5DAE7F61D}"/>
              </a:ext>
            </a:extLst>
          </p:cNvPr>
          <p:cNvSpPr/>
          <p:nvPr/>
        </p:nvSpPr>
        <p:spPr>
          <a:xfrm>
            <a:off x="4267200" y="2260600"/>
            <a:ext cx="609600" cy="25400"/>
          </a:xfrm>
          <a:prstGeom prst="rect">
            <a:avLst/>
          </a:prstGeom>
          <a:solidFill>
            <a:srgbClr val="B0B8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E95D79-4425-4988-A076-A508C2BE3F58}"/>
              </a:ext>
            </a:extLst>
          </p:cNvPr>
          <p:cNvSpPr/>
          <p:nvPr/>
        </p:nvSpPr>
        <p:spPr>
          <a:xfrm>
            <a:off x="4559300" y="1968500"/>
            <a:ext cx="25400" cy="609600"/>
          </a:xfrm>
          <a:prstGeom prst="rect">
            <a:avLst/>
          </a:prstGeom>
          <a:solidFill>
            <a:srgbClr val="B0B8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2E1D4-D6AC-4410-BACA-0ACB10B1A6B5}"/>
              </a:ext>
            </a:extLst>
          </p:cNvPr>
          <p:cNvSpPr txBox="1"/>
          <p:nvPr/>
        </p:nvSpPr>
        <p:spPr>
          <a:xfrm>
            <a:off x="444500" y="4508500"/>
            <a:ext cx="825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Fig. 3 — 전체 파이프라인 (E2E 13.7 ms, p99 19.8 ms)</a:t>
            </a:r>
          </a:p>
        </p:txBody>
      </p:sp>
      <p:pic>
        <p:nvPicPr>
          <p:cNvPr id="11" name="Picture 10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574800"/>
            <a:ext cx="8255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527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E436FE4-F0E1-47B8-996C-55DFC2E0843D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실패 교훈 — 역효과였던 접근 3가지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05E6AC-0751-4A55-8A6B-4DED6641BB9D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논문 Methods 섹션의 결정적 근거로 남음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986B38-3517-4425-A518-2AAD7337B8C6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50A9807-AA49-40F2-9E64-5BD161B0220C}"/>
              </a:ext>
            </a:extLst>
          </p:cNvPr>
          <p:cNvSpPr/>
          <p:nvPr/>
        </p:nvSpPr>
        <p:spPr>
          <a:xfrm>
            <a:off x="4445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EB3BD8-1197-40A9-83CF-4BF347C41C0F}"/>
              </a:ext>
            </a:extLst>
          </p:cNvPr>
          <p:cNvSpPr/>
          <p:nvPr/>
        </p:nvSpPr>
        <p:spPr>
          <a:xfrm>
            <a:off x="4445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C01705E-6B37-447F-960F-EF178AF7619B}"/>
              </a:ext>
            </a:extLst>
          </p:cNvPr>
          <p:cNvSpPr/>
          <p:nvPr/>
        </p:nvSpPr>
        <p:spPr>
          <a:xfrm>
            <a:off x="14605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1D050-5631-42B6-AA94-8B42471B2651}"/>
              </a:ext>
            </a:extLst>
          </p:cNvPr>
          <p:cNvSpPr txBox="1"/>
          <p:nvPr/>
        </p:nvSpPr>
        <p:spPr>
          <a:xfrm>
            <a:off x="5969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2D 필터링 금지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8814FC4-9761-4078-9F58-32D29090BE5F}"/>
              </a:ext>
            </a:extLst>
          </p:cNvPr>
          <p:cNvSpPr/>
          <p:nvPr/>
        </p:nvSpPr>
        <p:spPr>
          <a:xfrm>
            <a:off x="8255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62BCFF-75A9-4A93-B057-13805BBB839F}"/>
              </a:ext>
            </a:extLst>
          </p:cNvPr>
          <p:cNvSpPr txBox="1"/>
          <p:nvPr/>
        </p:nvSpPr>
        <p:spPr>
          <a:xfrm>
            <a:off x="596900" y="3022600"/>
            <a:ext cx="22606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One Euro / SegLen 을 2D에 적용 시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depth NaN → 3D 실패.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규칙: 필터는 3D 단계에서만.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6E02FA7-B6D6-42FE-85D2-FB8359EAD195}"/>
              </a:ext>
            </a:extLst>
          </p:cNvPr>
          <p:cNvSpPr/>
          <p:nvPr/>
        </p:nvSpPr>
        <p:spPr>
          <a:xfrm>
            <a:off x="31623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E2E988-5DEF-453B-BEBE-72BE3BBC4F77}"/>
              </a:ext>
            </a:extLst>
          </p:cNvPr>
          <p:cNvSpPr/>
          <p:nvPr/>
        </p:nvSpPr>
        <p:spPr>
          <a:xfrm>
            <a:off x="31623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DACC123-DABF-46E3-ABDD-DEB7A78DD2F1}"/>
              </a:ext>
            </a:extLst>
          </p:cNvPr>
          <p:cNvSpPr/>
          <p:nvPr/>
        </p:nvSpPr>
        <p:spPr>
          <a:xfrm>
            <a:off x="41783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5704A-5214-46A5-BCF8-AAA38C088AD7}"/>
              </a:ext>
            </a:extLst>
          </p:cNvPr>
          <p:cNvSpPr txBox="1"/>
          <p:nvPr/>
        </p:nvSpPr>
        <p:spPr>
          <a:xfrm>
            <a:off x="33147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NEURAL Depth 기각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DBBCCAC-5706-4B9F-8B52-DFE5296B38DD}"/>
              </a:ext>
            </a:extLst>
          </p:cNvPr>
          <p:cNvSpPr/>
          <p:nvPr/>
        </p:nvSpPr>
        <p:spPr>
          <a:xfrm>
            <a:off x="35433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433F75-880C-4FD7-9EAA-B0CDCE16B189}"/>
              </a:ext>
            </a:extLst>
          </p:cNvPr>
          <p:cNvSpPr txBox="1"/>
          <p:nvPr/>
        </p:nvSpPr>
        <p:spPr>
          <a:xfrm>
            <a:off x="3314700" y="3022600"/>
            <a:ext cx="22606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2 cm 정확도 vs GPU SM 경합.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predict 2.4× 급락, 29 FPS.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규칙: PERFORMANCE 유지.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F73B42F-8897-4EFF-AC10-568D1B2852E4}"/>
              </a:ext>
            </a:extLst>
          </p:cNvPr>
          <p:cNvSpPr/>
          <p:nvPr/>
        </p:nvSpPr>
        <p:spPr>
          <a:xfrm>
            <a:off x="58801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0B4D08-4041-4F0A-BEB8-22580031FE03}"/>
              </a:ext>
            </a:extLst>
          </p:cNvPr>
          <p:cNvSpPr/>
          <p:nvPr/>
        </p:nvSpPr>
        <p:spPr>
          <a:xfrm>
            <a:off x="58801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E2A7606-39F6-4A59-A8B8-6F8354B2C435}"/>
              </a:ext>
            </a:extLst>
          </p:cNvPr>
          <p:cNvSpPr/>
          <p:nvPr/>
        </p:nvSpPr>
        <p:spPr>
          <a:xfrm>
            <a:off x="68961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03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50FA34-2B54-46D3-A3DD-C52A22C57418}"/>
              </a:ext>
            </a:extLst>
          </p:cNvPr>
          <p:cNvSpPr txBox="1"/>
          <p:nvPr/>
        </p:nvSpPr>
        <p:spPr>
          <a:xfrm>
            <a:off x="60325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Zero-Copy 포기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37324A2-AFE4-4B72-B0F7-6ADD0256EFF1}"/>
              </a:ext>
            </a:extLst>
          </p:cNvPr>
          <p:cNvSpPr/>
          <p:nvPr/>
        </p:nvSpPr>
        <p:spPr>
          <a:xfrm>
            <a:off x="62611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E92B30-E0AA-4AD6-84EB-E12E9119AD69}"/>
              </a:ext>
            </a:extLst>
          </p:cNvPr>
          <p:cNvSpPr txBox="1"/>
          <p:nvPr/>
        </p:nvSpPr>
        <p:spPr>
          <a:xfrm>
            <a:off x="6032500" y="3022600"/>
            <a:ext cx="22606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copy=False → capture overwrite race.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calib 100 → 0 %.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규칙: 공유 버퍼는 복사 필수.</a:t>
            </a:r>
          </a:p>
        </p:txBody>
      </p:sp>
    </p:spTree>
    <p:extLst>
      <p:ext uri="{BB962C8B-B14F-4D97-AF65-F5344CB8AC3E}">
        <p14:creationId xmlns:p14="http://schemas.microsoft.com/office/powerpoint/2010/main" val="4048809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CA78E78-BEE1-4B6F-8661-E2A3B9D3A84A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교수님 가이드 요청 — 함께 정할 결정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E2E02-D7F7-49B5-8F6C-527103BB0E41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Slide 4 OPEN의 결정 항목을 4개 카테고리로 묶어 의논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6D0BCD-5B36-40A0-9E57-664C6244A9DB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B48E2D3-C320-4005-BD00-D9AD75B11B8F}"/>
              </a:ext>
            </a:extLst>
          </p:cNvPr>
          <p:cNvSpPr/>
          <p:nvPr/>
        </p:nvSpPr>
        <p:spPr>
          <a:xfrm>
            <a:off x="1244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A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96BB1-8837-466A-89B4-C4AC4F285BB1}"/>
              </a:ext>
            </a:extLst>
          </p:cNvPr>
          <p:cNvSpPr txBox="1"/>
          <p:nvPr/>
        </p:nvSpPr>
        <p:spPr>
          <a:xfrm>
            <a:off x="571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제어 알고리즘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CBD3C0-5F4C-44D3-96A8-58E095E8DC79}"/>
              </a:ext>
            </a:extLst>
          </p:cNvPr>
          <p:cNvSpPr/>
          <p:nvPr/>
        </p:nvSpPr>
        <p:spPr>
          <a:xfrm>
            <a:off x="1079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512CD-A30B-4A52-A7C0-D0D03A4DA2F5}"/>
              </a:ext>
            </a:extLst>
          </p:cNvPr>
          <p:cNvSpPr txBox="1"/>
          <p:nvPr/>
        </p:nvSpPr>
        <p:spPr>
          <a:xfrm>
            <a:off x="698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Knee Trajectory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Reference 정의 +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Impedance K·D 동정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320AD07-0EA6-4CF2-B163-726D6BE06D48}"/>
              </a:ext>
            </a:extLst>
          </p:cNvPr>
          <p:cNvSpPr/>
          <p:nvPr/>
        </p:nvSpPr>
        <p:spPr>
          <a:xfrm>
            <a:off x="3276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B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1AA166-FF35-4FD4-AE85-B941EB86A1C2}"/>
              </a:ext>
            </a:extLst>
          </p:cNvPr>
          <p:cNvSpPr txBox="1"/>
          <p:nvPr/>
        </p:nvSpPr>
        <p:spPr>
          <a:xfrm>
            <a:off x="2603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Vision Publish Rate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87A454-37CE-4CFC-93F6-EFD698C00952}"/>
              </a:ext>
            </a:extLst>
          </p:cNvPr>
          <p:cNvSpPr/>
          <p:nvPr/>
        </p:nvSpPr>
        <p:spPr>
          <a:xfrm>
            <a:off x="3111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2C8A14-74DA-4319-B84F-FD2AE18890B6}"/>
              </a:ext>
            </a:extLst>
          </p:cNvPr>
          <p:cNvSpPr txBox="1"/>
          <p:nvPr/>
        </p:nvSpPr>
        <p:spPr>
          <a:xfrm>
            <a:off x="2730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50–60 Hz 출발 가정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실측·튜닝 검증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37CD794-69F0-443C-AD8E-1BCA76EE84FC}"/>
              </a:ext>
            </a:extLst>
          </p:cNvPr>
          <p:cNvSpPr/>
          <p:nvPr/>
        </p:nvSpPr>
        <p:spPr>
          <a:xfrm>
            <a:off x="5308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C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E76E3E-4088-4BFB-9DE7-7C9D791B8DC2}"/>
              </a:ext>
            </a:extLst>
          </p:cNvPr>
          <p:cNvSpPr txBox="1"/>
          <p:nvPr/>
        </p:nvSpPr>
        <p:spPr>
          <a:xfrm>
            <a:off x="4635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Sim-to-Real RL 시점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7B4332-D277-4EF8-A3B8-2E493F8A4540}"/>
              </a:ext>
            </a:extLst>
          </p:cNvPr>
          <p:cNvSpPr/>
          <p:nvPr/>
        </p:nvSpPr>
        <p:spPr>
          <a:xfrm>
            <a:off x="5143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C17DCA-FAF2-4BA7-9DDF-458E82265676}"/>
              </a:ext>
            </a:extLst>
          </p:cNvPr>
          <p:cNvSpPr txBox="1"/>
          <p:nvPr/>
        </p:nvSpPr>
        <p:spPr>
          <a:xfrm>
            <a:off x="4762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지금 착수 vs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임피던스 검증 후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9583A35-0EC4-40F0-B853-0A6CB26553A6}"/>
              </a:ext>
            </a:extLst>
          </p:cNvPr>
          <p:cNvSpPr/>
          <p:nvPr/>
        </p:nvSpPr>
        <p:spPr>
          <a:xfrm>
            <a:off x="7340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D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2DB6E4-E860-4962-B030-566F59578DD6}"/>
              </a:ext>
            </a:extLst>
          </p:cNvPr>
          <p:cNvSpPr txBox="1"/>
          <p:nvPr/>
        </p:nvSpPr>
        <p:spPr>
          <a:xfrm>
            <a:off x="6667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논문 · 임상 방향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D04486-F751-4BF3-81FA-898E27BE3F28}"/>
              </a:ext>
            </a:extLst>
          </p:cNvPr>
          <p:cNvSpPr/>
          <p:nvPr/>
        </p:nvSpPr>
        <p:spPr>
          <a:xfrm>
            <a:off x="7175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DE6652-2459-47EB-ADBC-DF508BFB8EC5}"/>
              </a:ext>
            </a:extLst>
          </p:cNvPr>
          <p:cNvSpPr txBox="1"/>
          <p:nvPr/>
        </p:nvSpPr>
        <p:spPr>
          <a:xfrm>
            <a:off x="6794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RA-L / ICRA·IROS /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임상 IRB 진입 시점</a:t>
            </a:r>
          </a:p>
        </p:txBody>
      </p:sp>
    </p:spTree>
    <p:extLst>
      <p:ext uri="{BB962C8B-B14F-4D97-AF65-F5344CB8AC3E}">
        <p14:creationId xmlns:p14="http://schemas.microsoft.com/office/powerpoint/2010/main" val="743413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444500" y="406400"/>
            <a:ext cx="8318500" cy="6604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1 — E2E Latency 비교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444500" y="1117600"/>
            <a:ext cx="831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YOLO 계열 6종만 50 ms 벽 통과. MediaPipe · RTMPose 실패.</a:t>
            </a:r>
          </a:p>
        </p:txBody>
      </p:sp>
      <p:sp>
        <p:nvSpPr>
          <p:cNvPr id="102" name="Divider"/>
          <p:cNvSpPr/>
          <p:nvPr/>
        </p:nvSpPr>
        <p:spPr>
          <a:xfrm>
            <a:off x="444500" y="15367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ImageBg"/>
          <p:cNvSpPr/>
          <p:nvPr/>
        </p:nvSpPr>
        <p:spPr>
          <a:xfrm>
            <a:off x="444500" y="1714500"/>
            <a:ext cx="8255000" cy="2794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sz="1400" dirty="0"/>
          </a:p>
        </p:txBody>
      </p:sp>
      <p:sp>
        <p:nvSpPr>
          <p:cNvPr id="104" name="TL_H"/>
          <p:cNvSpPr/>
          <p:nvPr/>
        </p:nvSpPr>
        <p:spPr>
          <a:xfrm>
            <a:off x="4445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TL_V"/>
          <p:cNvSpPr/>
          <p:nvPr/>
        </p:nvSpPr>
        <p:spPr>
          <a:xfrm>
            <a:off x="444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R_H"/>
          <p:cNvSpPr/>
          <p:nvPr/>
        </p:nvSpPr>
        <p:spPr>
          <a:xfrm>
            <a:off x="85217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TR_V"/>
          <p:cNvSpPr/>
          <p:nvPr/>
        </p:nvSpPr>
        <p:spPr>
          <a:xfrm>
            <a:off x="8699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BL_H"/>
          <p:cNvSpPr/>
          <p:nvPr/>
        </p:nvSpPr>
        <p:spPr>
          <a:xfrm>
            <a:off x="444500" y="4508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BL_V"/>
          <p:cNvSpPr/>
          <p:nvPr/>
        </p:nvSpPr>
        <p:spPr>
          <a:xfrm>
            <a:off x="444500" y="4330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BR_H"/>
          <p:cNvSpPr/>
          <p:nvPr/>
        </p:nvSpPr>
        <p:spPr>
          <a:xfrm>
            <a:off x="8521700" y="4508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BR_V"/>
          <p:cNvSpPr/>
          <p:nvPr/>
        </p:nvSpPr>
        <p:spPr>
          <a:xfrm>
            <a:off x="8699500" y="4330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PlusH"/>
          <p:cNvSpPr/>
          <p:nvPr/>
        </p:nvSpPr>
        <p:spPr>
          <a:xfrm>
            <a:off x="4318000" y="3111500"/>
            <a:ext cx="508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PlusV"/>
          <p:cNvSpPr/>
          <p:nvPr/>
        </p:nvSpPr>
        <p:spPr>
          <a:xfrm>
            <a:off x="4572000" y="2857500"/>
            <a:ext cx="0" cy="508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Caption"/>
          <p:cNvSpPr txBox="1"/>
          <p:nvPr/>
        </p:nvSpPr>
        <p:spPr>
          <a:xfrm>
            <a:off x="444500" y="4610100"/>
            <a:ext cx="8318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4 — 12개 Pose 모델 E2E Latency</a:t>
            </a:r>
          </a:p>
        </p:txBody>
      </p:sp>
      <p:pic>
        <p:nvPicPr>
          <p:cNvPr id="116" name="Picture 115" descr="fig_latenc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714500"/>
            <a:ext cx="8255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36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/>
        </p:nvSpPr>
        <p:spPr>
          <a:xfrm>
            <a:off x="444500" y="406400"/>
            <a:ext cx="8318500" cy="6604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2 · 3 — Fine-Tuning + Pipeline 최적화</a:t>
            </a:r>
          </a:p>
        </p:txBody>
      </p:sp>
      <p:sp>
        <p:nvSpPr>
          <p:cNvPr id="201" name="Subtitle"/>
          <p:cNvSpPr txBox="1"/>
          <p:nvPr/>
        </p:nvSpPr>
        <p:spPr>
          <a:xfrm>
            <a:off x="444500" y="1117600"/>
            <a:ext cx="831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kpt head 전환 + DirectTRT + C++ post → 44 ms에서 13.7 ms까지.</a:t>
            </a:r>
          </a:p>
        </p:txBody>
      </p:sp>
      <p:sp>
        <p:nvSpPr>
          <p:cNvPr id="202" name="Divider"/>
          <p:cNvSpPr/>
          <p:nvPr/>
        </p:nvSpPr>
        <p:spPr>
          <a:xfrm>
            <a:off x="444500" y="15367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0" name="ImgBg210"/>
          <p:cNvSpPr/>
          <p:nvPr/>
        </p:nvSpPr>
        <p:spPr>
          <a:xfrm>
            <a:off x="444500" y="1714500"/>
            <a:ext cx="4038600" cy="2540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sz="1400" dirty="0"/>
          </a:p>
        </p:txBody>
      </p:sp>
      <p:sp>
        <p:nvSpPr>
          <p:cNvPr id="220" name="TL_H_210"/>
          <p:cNvSpPr/>
          <p:nvPr/>
        </p:nvSpPr>
        <p:spPr>
          <a:xfrm>
            <a:off x="4445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TL_V_210"/>
          <p:cNvSpPr/>
          <p:nvPr/>
        </p:nvSpPr>
        <p:spPr>
          <a:xfrm>
            <a:off x="444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TR_H_210"/>
          <p:cNvSpPr/>
          <p:nvPr/>
        </p:nvSpPr>
        <p:spPr>
          <a:xfrm>
            <a:off x="43053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TR_V_210"/>
          <p:cNvSpPr/>
          <p:nvPr/>
        </p:nvSpPr>
        <p:spPr>
          <a:xfrm>
            <a:off x="44831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4" name="BL_H_210"/>
          <p:cNvSpPr/>
          <p:nvPr/>
        </p:nvSpPr>
        <p:spPr>
          <a:xfrm>
            <a:off x="4445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BL_V_210"/>
          <p:cNvSpPr/>
          <p:nvPr/>
        </p:nvSpPr>
        <p:spPr>
          <a:xfrm>
            <a:off x="4445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6" name="BR_H_210"/>
          <p:cNvSpPr/>
          <p:nvPr/>
        </p:nvSpPr>
        <p:spPr>
          <a:xfrm>
            <a:off x="43053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BR_V_210"/>
          <p:cNvSpPr/>
          <p:nvPr/>
        </p:nvSpPr>
        <p:spPr>
          <a:xfrm>
            <a:off x="44831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0" name="PlusH_210"/>
          <p:cNvSpPr/>
          <p:nvPr/>
        </p:nvSpPr>
        <p:spPr>
          <a:xfrm>
            <a:off x="2273300" y="2984500"/>
            <a:ext cx="381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1" name="PlusV_210"/>
          <p:cNvSpPr/>
          <p:nvPr/>
        </p:nvSpPr>
        <p:spPr>
          <a:xfrm>
            <a:off x="2463800" y="2794000"/>
            <a:ext cx="0" cy="381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ImgBg250"/>
          <p:cNvSpPr/>
          <p:nvPr/>
        </p:nvSpPr>
        <p:spPr>
          <a:xfrm>
            <a:off x="4673600" y="1714500"/>
            <a:ext cx="4038600" cy="2540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sz="1400" dirty="0"/>
          </a:p>
        </p:txBody>
      </p:sp>
      <p:sp>
        <p:nvSpPr>
          <p:cNvPr id="260" name="TL_H_250"/>
          <p:cNvSpPr/>
          <p:nvPr/>
        </p:nvSpPr>
        <p:spPr>
          <a:xfrm>
            <a:off x="46736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1" name="TL_V_250"/>
          <p:cNvSpPr/>
          <p:nvPr/>
        </p:nvSpPr>
        <p:spPr>
          <a:xfrm>
            <a:off x="46736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TR_H_250"/>
          <p:cNvSpPr/>
          <p:nvPr/>
        </p:nvSpPr>
        <p:spPr>
          <a:xfrm>
            <a:off x="85344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TR_V_250"/>
          <p:cNvSpPr/>
          <p:nvPr/>
        </p:nvSpPr>
        <p:spPr>
          <a:xfrm>
            <a:off x="87122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4" name="BL_H_250"/>
          <p:cNvSpPr/>
          <p:nvPr/>
        </p:nvSpPr>
        <p:spPr>
          <a:xfrm>
            <a:off x="46736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BL_V_250"/>
          <p:cNvSpPr/>
          <p:nvPr/>
        </p:nvSpPr>
        <p:spPr>
          <a:xfrm>
            <a:off x="46736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6" name="BR_H_250"/>
          <p:cNvSpPr/>
          <p:nvPr/>
        </p:nvSpPr>
        <p:spPr>
          <a:xfrm>
            <a:off x="85344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" name="BR_V_250"/>
          <p:cNvSpPr/>
          <p:nvPr/>
        </p:nvSpPr>
        <p:spPr>
          <a:xfrm>
            <a:off x="87122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0" name="PlusH_250"/>
          <p:cNvSpPr/>
          <p:nvPr/>
        </p:nvSpPr>
        <p:spPr>
          <a:xfrm>
            <a:off x="6502400" y="2984500"/>
            <a:ext cx="381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" name="PlusV_250"/>
          <p:cNvSpPr/>
          <p:nvPr/>
        </p:nvSpPr>
        <p:spPr>
          <a:xfrm>
            <a:off x="6692900" y="2794000"/>
            <a:ext cx="0" cy="381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0" name="Caption1"/>
          <p:cNvSpPr txBox="1"/>
          <p:nvPr/>
        </p:nvSpPr>
        <p:spPr>
          <a:xfrm>
            <a:off x="444500" y="4356100"/>
            <a:ext cx="40386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5 — Fine-Tuning 4대 지표 (17 → 6 kpt)</a:t>
            </a:r>
          </a:p>
        </p:txBody>
      </p:sp>
      <p:sp>
        <p:nvSpPr>
          <p:cNvPr id="301" name="Caption2"/>
          <p:cNvSpPr txBox="1"/>
          <p:nvPr/>
        </p:nvSpPr>
        <p:spPr>
          <a:xfrm>
            <a:off x="4673600" y="4356100"/>
            <a:ext cx="40386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6 — 4단계 Evolution &amp; 기여도</a:t>
            </a:r>
          </a:p>
        </p:txBody>
      </p:sp>
      <p:pic>
        <p:nvPicPr>
          <p:cNvPr id="302" name="Picture 301" descr="fig_f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714500"/>
            <a:ext cx="4038600" cy="2540000"/>
          </a:xfrm>
          <a:prstGeom prst="rect">
            <a:avLst/>
          </a:prstGeom>
        </p:spPr>
      </p:pic>
      <p:pic>
        <p:nvPicPr>
          <p:cNvPr id="303" name="Picture 302" descr="fig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0" y="1714500"/>
            <a:ext cx="40386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05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444500" y="406400"/>
            <a:ext cx="8318500" cy="6604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3장 레이아웃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444500" y="1117600"/>
            <a:ext cx="831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슬라이드에서 전달하려는 핵심 메시지를 한 문장으로 작성하세요.</a:t>
            </a:r>
          </a:p>
        </p:txBody>
      </p:sp>
      <p:sp>
        <p:nvSpPr>
          <p:cNvPr id="102" name="Divider"/>
          <p:cNvSpPr/>
          <p:nvPr/>
        </p:nvSpPr>
        <p:spPr>
          <a:xfrm>
            <a:off x="444500" y="15367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ImgBg200"/>
          <p:cNvSpPr/>
          <p:nvPr/>
        </p:nvSpPr>
        <p:spPr>
          <a:xfrm>
            <a:off x="444500" y="1714500"/>
            <a:ext cx="2654300" cy="2413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01" name="C0_200"/>
          <p:cNvSpPr/>
          <p:nvPr/>
        </p:nvSpPr>
        <p:spPr>
          <a:xfrm>
            <a:off x="4445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C1_200"/>
          <p:cNvSpPr/>
          <p:nvPr/>
        </p:nvSpPr>
        <p:spPr>
          <a:xfrm>
            <a:off x="4445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C2_200"/>
          <p:cNvSpPr/>
          <p:nvPr/>
        </p:nvSpPr>
        <p:spPr>
          <a:xfrm>
            <a:off x="29718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C3_200"/>
          <p:cNvSpPr/>
          <p:nvPr/>
        </p:nvSpPr>
        <p:spPr>
          <a:xfrm>
            <a:off x="30988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C4_200"/>
          <p:cNvSpPr/>
          <p:nvPr/>
        </p:nvSpPr>
        <p:spPr>
          <a:xfrm>
            <a:off x="4445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C5_200"/>
          <p:cNvSpPr/>
          <p:nvPr/>
        </p:nvSpPr>
        <p:spPr>
          <a:xfrm>
            <a:off x="4445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C6_200"/>
          <p:cNvSpPr/>
          <p:nvPr/>
        </p:nvSpPr>
        <p:spPr>
          <a:xfrm>
            <a:off x="29718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C7_200"/>
          <p:cNvSpPr/>
          <p:nvPr/>
        </p:nvSpPr>
        <p:spPr>
          <a:xfrm>
            <a:off x="30988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PH_200"/>
          <p:cNvSpPr/>
          <p:nvPr/>
        </p:nvSpPr>
        <p:spPr>
          <a:xfrm>
            <a:off x="1619250" y="2921000"/>
            <a:ext cx="304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PV_200"/>
          <p:cNvSpPr/>
          <p:nvPr/>
        </p:nvSpPr>
        <p:spPr>
          <a:xfrm>
            <a:off x="1771650" y="2768600"/>
            <a:ext cx="0" cy="304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Lbl_200"/>
          <p:cNvSpPr txBox="1"/>
          <p:nvPr/>
        </p:nvSpPr>
        <p:spPr>
          <a:xfrm>
            <a:off x="444500" y="30988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1</a:t>
            </a:r>
          </a:p>
        </p:txBody>
      </p:sp>
      <p:sp>
        <p:nvSpPr>
          <p:cNvPr id="223" name="Cap_200"/>
          <p:cNvSpPr txBox="1"/>
          <p:nvPr/>
        </p:nvSpPr>
        <p:spPr>
          <a:xfrm>
            <a:off x="444500" y="42037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1 — 그림 제목</a:t>
            </a:r>
          </a:p>
        </p:txBody>
      </p:sp>
      <p:sp>
        <p:nvSpPr>
          <p:cNvPr id="230" name="ImgBg230"/>
          <p:cNvSpPr/>
          <p:nvPr/>
        </p:nvSpPr>
        <p:spPr>
          <a:xfrm>
            <a:off x="3251200" y="1714500"/>
            <a:ext cx="2654300" cy="2413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31" name="C0_230"/>
          <p:cNvSpPr/>
          <p:nvPr/>
        </p:nvSpPr>
        <p:spPr>
          <a:xfrm>
            <a:off x="32512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C1_230"/>
          <p:cNvSpPr/>
          <p:nvPr/>
        </p:nvSpPr>
        <p:spPr>
          <a:xfrm>
            <a:off x="32512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3" name="C2_230"/>
          <p:cNvSpPr/>
          <p:nvPr/>
        </p:nvSpPr>
        <p:spPr>
          <a:xfrm>
            <a:off x="57785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C3_230"/>
          <p:cNvSpPr/>
          <p:nvPr/>
        </p:nvSpPr>
        <p:spPr>
          <a:xfrm>
            <a:off x="59055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5" name="C4_230"/>
          <p:cNvSpPr/>
          <p:nvPr/>
        </p:nvSpPr>
        <p:spPr>
          <a:xfrm>
            <a:off x="32512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6" name="C5_230"/>
          <p:cNvSpPr/>
          <p:nvPr/>
        </p:nvSpPr>
        <p:spPr>
          <a:xfrm>
            <a:off x="32512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C6_230"/>
          <p:cNvSpPr/>
          <p:nvPr/>
        </p:nvSpPr>
        <p:spPr>
          <a:xfrm>
            <a:off x="57785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8" name="C7_230"/>
          <p:cNvSpPr/>
          <p:nvPr/>
        </p:nvSpPr>
        <p:spPr>
          <a:xfrm>
            <a:off x="59055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PH_230"/>
          <p:cNvSpPr/>
          <p:nvPr/>
        </p:nvSpPr>
        <p:spPr>
          <a:xfrm>
            <a:off x="4425950" y="2921000"/>
            <a:ext cx="304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1" name="PV_230"/>
          <p:cNvSpPr/>
          <p:nvPr/>
        </p:nvSpPr>
        <p:spPr>
          <a:xfrm>
            <a:off x="4578350" y="2768600"/>
            <a:ext cx="0" cy="304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2" name="Lbl_230"/>
          <p:cNvSpPr txBox="1"/>
          <p:nvPr/>
        </p:nvSpPr>
        <p:spPr>
          <a:xfrm>
            <a:off x="3251200" y="30988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2</a:t>
            </a:r>
          </a:p>
        </p:txBody>
      </p:sp>
      <p:sp>
        <p:nvSpPr>
          <p:cNvPr id="253" name="Cap_230"/>
          <p:cNvSpPr txBox="1"/>
          <p:nvPr/>
        </p:nvSpPr>
        <p:spPr>
          <a:xfrm>
            <a:off x="3251200" y="42037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2 — 그림 제목</a:t>
            </a:r>
          </a:p>
        </p:txBody>
      </p:sp>
      <p:sp>
        <p:nvSpPr>
          <p:cNvPr id="260" name="ImgBg260"/>
          <p:cNvSpPr/>
          <p:nvPr/>
        </p:nvSpPr>
        <p:spPr>
          <a:xfrm>
            <a:off x="6057900" y="1714500"/>
            <a:ext cx="2654300" cy="2413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61" name="C0_260"/>
          <p:cNvSpPr/>
          <p:nvPr/>
        </p:nvSpPr>
        <p:spPr>
          <a:xfrm>
            <a:off x="60579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C1_260"/>
          <p:cNvSpPr/>
          <p:nvPr/>
        </p:nvSpPr>
        <p:spPr>
          <a:xfrm>
            <a:off x="60579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C2_260"/>
          <p:cNvSpPr/>
          <p:nvPr/>
        </p:nvSpPr>
        <p:spPr>
          <a:xfrm>
            <a:off x="85852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4" name="C3_260"/>
          <p:cNvSpPr/>
          <p:nvPr/>
        </p:nvSpPr>
        <p:spPr>
          <a:xfrm>
            <a:off x="87122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C4_260"/>
          <p:cNvSpPr/>
          <p:nvPr/>
        </p:nvSpPr>
        <p:spPr>
          <a:xfrm>
            <a:off x="60579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6" name="C5_260"/>
          <p:cNvSpPr/>
          <p:nvPr/>
        </p:nvSpPr>
        <p:spPr>
          <a:xfrm>
            <a:off x="60579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" name="C6_260"/>
          <p:cNvSpPr/>
          <p:nvPr/>
        </p:nvSpPr>
        <p:spPr>
          <a:xfrm>
            <a:off x="85852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8" name="C7_260"/>
          <p:cNvSpPr/>
          <p:nvPr/>
        </p:nvSpPr>
        <p:spPr>
          <a:xfrm>
            <a:off x="87122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0" name="PH_260"/>
          <p:cNvSpPr/>
          <p:nvPr/>
        </p:nvSpPr>
        <p:spPr>
          <a:xfrm>
            <a:off x="7232650" y="2921000"/>
            <a:ext cx="304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1" name="PV_260"/>
          <p:cNvSpPr/>
          <p:nvPr/>
        </p:nvSpPr>
        <p:spPr>
          <a:xfrm>
            <a:off x="7385050" y="2768600"/>
            <a:ext cx="0" cy="304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2" name="Lbl_260"/>
          <p:cNvSpPr txBox="1"/>
          <p:nvPr/>
        </p:nvSpPr>
        <p:spPr>
          <a:xfrm>
            <a:off x="6057900" y="30988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3</a:t>
            </a:r>
          </a:p>
        </p:txBody>
      </p:sp>
      <p:sp>
        <p:nvSpPr>
          <p:cNvPr id="283" name="Cap_260"/>
          <p:cNvSpPr txBox="1"/>
          <p:nvPr/>
        </p:nvSpPr>
        <p:spPr>
          <a:xfrm>
            <a:off x="6057900" y="42037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3 — 그림 제목</a:t>
            </a:r>
          </a:p>
        </p:txBody>
      </p:sp>
    </p:spTree>
    <p:extLst>
      <p:ext uri="{BB962C8B-B14F-4D97-AF65-F5344CB8AC3E}">
        <p14:creationId xmlns:p14="http://schemas.microsoft.com/office/powerpoint/2010/main" val="3264110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444500" y="355600"/>
            <a:ext cx="8318500" cy="609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Dataset v3 — Robustness 다양성 확보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444500" y="1016000"/>
            <a:ext cx="8318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옷차림 4종 × 보행 속도 6단계 → 1,300장 / yolo26s-lower6-v3 학습 진행 중</a:t>
            </a:r>
          </a:p>
        </p:txBody>
      </p:sp>
      <p:sp>
        <p:nvSpPr>
          <p:cNvPr id="102" name="Divider"/>
          <p:cNvSpPr/>
          <p:nvPr/>
        </p:nvSpPr>
        <p:spPr>
          <a:xfrm>
            <a:off x="444500" y="13462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ImgBg200"/>
          <p:cNvSpPr/>
          <p:nvPr/>
        </p:nvSpPr>
        <p:spPr>
          <a:xfrm>
            <a:off x="444500" y="1447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01" name="C0_200"/>
          <p:cNvSpPr/>
          <p:nvPr/>
        </p:nvSpPr>
        <p:spPr>
          <a:xfrm>
            <a:off x="4445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C1_200"/>
          <p:cNvSpPr/>
          <p:nvPr/>
        </p:nvSpPr>
        <p:spPr>
          <a:xfrm>
            <a:off x="4445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C2_200"/>
          <p:cNvSpPr/>
          <p:nvPr/>
        </p:nvSpPr>
        <p:spPr>
          <a:xfrm>
            <a:off x="43815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C3_200"/>
          <p:cNvSpPr/>
          <p:nvPr/>
        </p:nvSpPr>
        <p:spPr>
          <a:xfrm>
            <a:off x="44958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C4_200"/>
          <p:cNvSpPr/>
          <p:nvPr/>
        </p:nvSpPr>
        <p:spPr>
          <a:xfrm>
            <a:off x="4445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C5_200"/>
          <p:cNvSpPr/>
          <p:nvPr/>
        </p:nvSpPr>
        <p:spPr>
          <a:xfrm>
            <a:off x="4445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C6_200"/>
          <p:cNvSpPr/>
          <p:nvPr/>
        </p:nvSpPr>
        <p:spPr>
          <a:xfrm>
            <a:off x="43815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C7_200"/>
          <p:cNvSpPr/>
          <p:nvPr/>
        </p:nvSpPr>
        <p:spPr>
          <a:xfrm>
            <a:off x="44958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PH_200"/>
          <p:cNvSpPr/>
          <p:nvPr/>
        </p:nvSpPr>
        <p:spPr>
          <a:xfrm>
            <a:off x="2343150" y="2146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PV_200"/>
          <p:cNvSpPr/>
          <p:nvPr/>
        </p:nvSpPr>
        <p:spPr>
          <a:xfrm>
            <a:off x="2470150" y="2019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Lbl_200"/>
          <p:cNvSpPr txBox="1"/>
          <p:nvPr/>
        </p:nvSpPr>
        <p:spPr>
          <a:xfrm>
            <a:off x="444500" y="2298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Sweats</a:t>
            </a:r>
          </a:p>
        </p:txBody>
      </p:sp>
      <p:sp>
        <p:nvSpPr>
          <p:cNvPr id="223" name="Cap_200"/>
          <p:cNvSpPr txBox="1"/>
          <p:nvPr/>
        </p:nvSpPr>
        <p:spPr>
          <a:xfrm>
            <a:off x="444500" y="2870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기본 보행 (2 / 3 / 4 / 4.5 / 6 / 7 km/h)</a:t>
            </a:r>
          </a:p>
        </p:txBody>
      </p:sp>
      <p:sp>
        <p:nvSpPr>
          <p:cNvPr id="230" name="ImgBg230"/>
          <p:cNvSpPr/>
          <p:nvPr/>
        </p:nvSpPr>
        <p:spPr>
          <a:xfrm>
            <a:off x="4648200" y="1447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31" name="C0_230"/>
          <p:cNvSpPr/>
          <p:nvPr/>
        </p:nvSpPr>
        <p:spPr>
          <a:xfrm>
            <a:off x="46482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C1_230"/>
          <p:cNvSpPr/>
          <p:nvPr/>
        </p:nvSpPr>
        <p:spPr>
          <a:xfrm>
            <a:off x="46482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3" name="C2_230"/>
          <p:cNvSpPr/>
          <p:nvPr/>
        </p:nvSpPr>
        <p:spPr>
          <a:xfrm>
            <a:off x="85852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C3_230"/>
          <p:cNvSpPr/>
          <p:nvPr/>
        </p:nvSpPr>
        <p:spPr>
          <a:xfrm>
            <a:off x="86995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5" name="C4_230"/>
          <p:cNvSpPr/>
          <p:nvPr/>
        </p:nvSpPr>
        <p:spPr>
          <a:xfrm>
            <a:off x="46482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6" name="C5_230"/>
          <p:cNvSpPr/>
          <p:nvPr/>
        </p:nvSpPr>
        <p:spPr>
          <a:xfrm>
            <a:off x="46482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C6_230"/>
          <p:cNvSpPr/>
          <p:nvPr/>
        </p:nvSpPr>
        <p:spPr>
          <a:xfrm>
            <a:off x="85852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8" name="C7_230"/>
          <p:cNvSpPr/>
          <p:nvPr/>
        </p:nvSpPr>
        <p:spPr>
          <a:xfrm>
            <a:off x="86995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PH_230"/>
          <p:cNvSpPr/>
          <p:nvPr/>
        </p:nvSpPr>
        <p:spPr>
          <a:xfrm>
            <a:off x="6546850" y="2146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1" name="PV_230"/>
          <p:cNvSpPr/>
          <p:nvPr/>
        </p:nvSpPr>
        <p:spPr>
          <a:xfrm>
            <a:off x="6673850" y="2019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2" name="Lbl_230"/>
          <p:cNvSpPr txBox="1"/>
          <p:nvPr/>
        </p:nvSpPr>
        <p:spPr>
          <a:xfrm>
            <a:off x="4648200" y="2298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Tight</a:t>
            </a:r>
          </a:p>
        </p:txBody>
      </p:sp>
      <p:sp>
        <p:nvSpPr>
          <p:cNvPr id="253" name="Cap_230"/>
          <p:cNvSpPr txBox="1"/>
          <p:nvPr/>
        </p:nvSpPr>
        <p:spPr>
          <a:xfrm>
            <a:off x="4648200" y="2870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신체 윤곽 강조 (3 / 4.5 / 6 km/h)</a:t>
            </a:r>
          </a:p>
        </p:txBody>
      </p:sp>
      <p:sp>
        <p:nvSpPr>
          <p:cNvPr id="260" name="ImgBg260"/>
          <p:cNvSpPr/>
          <p:nvPr/>
        </p:nvSpPr>
        <p:spPr>
          <a:xfrm>
            <a:off x="444500" y="3098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61" name="C0_260"/>
          <p:cNvSpPr/>
          <p:nvPr/>
        </p:nvSpPr>
        <p:spPr>
          <a:xfrm>
            <a:off x="4445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C1_260"/>
          <p:cNvSpPr/>
          <p:nvPr/>
        </p:nvSpPr>
        <p:spPr>
          <a:xfrm>
            <a:off x="4445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C2_260"/>
          <p:cNvSpPr/>
          <p:nvPr/>
        </p:nvSpPr>
        <p:spPr>
          <a:xfrm>
            <a:off x="43815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4" name="C3_260"/>
          <p:cNvSpPr/>
          <p:nvPr/>
        </p:nvSpPr>
        <p:spPr>
          <a:xfrm>
            <a:off x="44958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C4_260"/>
          <p:cNvSpPr/>
          <p:nvPr/>
        </p:nvSpPr>
        <p:spPr>
          <a:xfrm>
            <a:off x="4445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6" name="C5_260"/>
          <p:cNvSpPr/>
          <p:nvPr/>
        </p:nvSpPr>
        <p:spPr>
          <a:xfrm>
            <a:off x="4445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" name="C6_260"/>
          <p:cNvSpPr/>
          <p:nvPr/>
        </p:nvSpPr>
        <p:spPr>
          <a:xfrm>
            <a:off x="43815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8" name="C7_260"/>
          <p:cNvSpPr/>
          <p:nvPr/>
        </p:nvSpPr>
        <p:spPr>
          <a:xfrm>
            <a:off x="44958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0" name="PH_260"/>
          <p:cNvSpPr/>
          <p:nvPr/>
        </p:nvSpPr>
        <p:spPr>
          <a:xfrm>
            <a:off x="2343150" y="3797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1" name="PV_260"/>
          <p:cNvSpPr/>
          <p:nvPr/>
        </p:nvSpPr>
        <p:spPr>
          <a:xfrm>
            <a:off x="2470150" y="3670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2" name="Lbl_260"/>
          <p:cNvSpPr txBox="1"/>
          <p:nvPr/>
        </p:nvSpPr>
        <p:spPr>
          <a:xfrm>
            <a:off x="444500" y="3949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Shorts</a:t>
            </a:r>
          </a:p>
        </p:txBody>
      </p:sp>
      <p:sp>
        <p:nvSpPr>
          <p:cNvPr id="283" name="Cap_260"/>
          <p:cNvSpPr txBox="1"/>
          <p:nvPr/>
        </p:nvSpPr>
        <p:spPr>
          <a:xfrm>
            <a:off x="444500" y="4521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다리 노출 (3 / 4.5 / 6 km/h)</a:t>
            </a:r>
          </a:p>
        </p:txBody>
      </p:sp>
      <p:sp>
        <p:nvSpPr>
          <p:cNvPr id="290" name="ImgBg290"/>
          <p:cNvSpPr/>
          <p:nvPr/>
        </p:nvSpPr>
        <p:spPr>
          <a:xfrm>
            <a:off x="4648200" y="3098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91" name="C0_290"/>
          <p:cNvSpPr/>
          <p:nvPr/>
        </p:nvSpPr>
        <p:spPr>
          <a:xfrm>
            <a:off x="46482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2" name="C1_290"/>
          <p:cNvSpPr/>
          <p:nvPr/>
        </p:nvSpPr>
        <p:spPr>
          <a:xfrm>
            <a:off x="46482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3" name="C2_290"/>
          <p:cNvSpPr/>
          <p:nvPr/>
        </p:nvSpPr>
        <p:spPr>
          <a:xfrm>
            <a:off x="85852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4" name="C3_290"/>
          <p:cNvSpPr/>
          <p:nvPr/>
        </p:nvSpPr>
        <p:spPr>
          <a:xfrm>
            <a:off x="86995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5" name="C4_290"/>
          <p:cNvSpPr/>
          <p:nvPr/>
        </p:nvSpPr>
        <p:spPr>
          <a:xfrm>
            <a:off x="46482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6" name="C5_290"/>
          <p:cNvSpPr/>
          <p:nvPr/>
        </p:nvSpPr>
        <p:spPr>
          <a:xfrm>
            <a:off x="46482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7" name="C6_290"/>
          <p:cNvSpPr/>
          <p:nvPr/>
        </p:nvSpPr>
        <p:spPr>
          <a:xfrm>
            <a:off x="85852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8" name="C7_290"/>
          <p:cNvSpPr/>
          <p:nvPr/>
        </p:nvSpPr>
        <p:spPr>
          <a:xfrm>
            <a:off x="86995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0" name="PH_290"/>
          <p:cNvSpPr/>
          <p:nvPr/>
        </p:nvSpPr>
        <p:spPr>
          <a:xfrm>
            <a:off x="6546850" y="3797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1" name="PV_290"/>
          <p:cNvSpPr/>
          <p:nvPr/>
        </p:nvSpPr>
        <p:spPr>
          <a:xfrm>
            <a:off x="6673850" y="3670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2" name="Lbl_290"/>
          <p:cNvSpPr txBox="1"/>
          <p:nvPr/>
        </p:nvSpPr>
        <p:spPr>
          <a:xfrm>
            <a:off x="4648200" y="3949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Exosuit</a:t>
            </a:r>
          </a:p>
        </p:txBody>
      </p:sp>
      <p:sp>
        <p:nvSpPr>
          <p:cNvPr id="313" name="Cap_290"/>
          <p:cNvSpPr txBox="1"/>
          <p:nvPr/>
        </p:nvSpPr>
        <p:spPr>
          <a:xfrm>
            <a:off x="4648200" y="4521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타겟 환경 (3 / 4.5 / 6 km/h + clip)</a:t>
            </a:r>
          </a:p>
        </p:txBody>
      </p:sp>
    </p:spTree>
    <p:extLst>
      <p:ext uri="{BB962C8B-B14F-4D97-AF65-F5344CB8AC3E}">
        <p14:creationId xmlns:p14="http://schemas.microsoft.com/office/powerpoint/2010/main" val="3232813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DB1A873-B96F-4B82-A99F-49E1EABE9BAE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실험 로드맵 — Evolution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7535D-1CA2-42F0-9446-10E9D89CAFC4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약 44 ms → 약 14 ms (≈ 3×) · Robustness 데이터 확보까지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DFB376-08E8-476E-B10A-1239F4B76C90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39165A-ACA2-4C32-923C-7432C78C46F4}"/>
              </a:ext>
            </a:extLst>
          </p:cNvPr>
          <p:cNvSpPr/>
          <p:nvPr/>
        </p:nvSpPr>
        <p:spPr>
          <a:xfrm>
            <a:off x="889000" y="3022600"/>
            <a:ext cx="7366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1A3D447-DD78-45FE-BF6C-6A5CD4DCA5A1}"/>
              </a:ext>
            </a:extLst>
          </p:cNvPr>
          <p:cNvSpPr/>
          <p:nvPr/>
        </p:nvSpPr>
        <p:spPr>
          <a:xfrm>
            <a:off x="901700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C4B8F-9867-41A4-AAE7-6D4EEDF4E92E}"/>
              </a:ext>
            </a:extLst>
          </p:cNvPr>
          <p:cNvSpPr txBox="1"/>
          <p:nvPr/>
        </p:nvSpPr>
        <p:spPr>
          <a:xfrm>
            <a:off x="381000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1F0A1-BD0F-4575-9B09-263769DE0E4F}"/>
              </a:ext>
            </a:extLst>
          </p:cNvPr>
          <p:cNvSpPr txBox="1"/>
          <p:nvPr/>
        </p:nvSpPr>
        <p:spPr>
          <a:xfrm>
            <a:off x="381000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모델 선정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48A81-8233-4363-9888-903F2D064148}"/>
              </a:ext>
            </a:extLst>
          </p:cNvPr>
          <p:cNvSpPr txBox="1"/>
          <p:nvPr/>
        </p:nvSpPr>
        <p:spPr>
          <a:xfrm>
            <a:off x="317500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12개 모델 벤치마크.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YOLO 계열만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&lt;50 ms 통과.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D877C17-0B6C-4914-B74D-C9A0455092A5}"/>
              </a:ext>
            </a:extLst>
          </p:cNvPr>
          <p:cNvSpPr/>
          <p:nvPr/>
        </p:nvSpPr>
        <p:spPr>
          <a:xfrm>
            <a:off x="3272366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B9B41-DFD6-4A56-9F92-0E2546CDEEE7}"/>
              </a:ext>
            </a:extLst>
          </p:cNvPr>
          <p:cNvSpPr txBox="1"/>
          <p:nvPr/>
        </p:nvSpPr>
        <p:spPr>
          <a:xfrm>
            <a:off x="2751666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E144FF-53F5-4B90-8445-EE30FB3026CD}"/>
              </a:ext>
            </a:extLst>
          </p:cNvPr>
          <p:cNvSpPr txBox="1"/>
          <p:nvPr/>
        </p:nvSpPr>
        <p:spPr>
          <a:xfrm>
            <a:off x="2751666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Fine-Tuning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E17EE7-34AD-43B9-9D18-F181AA86BC7E}"/>
              </a:ext>
            </a:extLst>
          </p:cNvPr>
          <p:cNvSpPr txBox="1"/>
          <p:nvPr/>
        </p:nvSpPr>
        <p:spPr>
          <a:xfrm>
            <a:off x="2688166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6 kpt head로 축소.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약 44 → 18 ms.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연산량 감소.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E72F227-0FF1-4EEB-AAEE-A23290530B81}"/>
              </a:ext>
            </a:extLst>
          </p:cNvPr>
          <p:cNvSpPr/>
          <p:nvPr/>
        </p:nvSpPr>
        <p:spPr>
          <a:xfrm>
            <a:off x="5643033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649410-5433-4197-8CCB-909A7589F9E3}"/>
              </a:ext>
            </a:extLst>
          </p:cNvPr>
          <p:cNvSpPr txBox="1"/>
          <p:nvPr/>
        </p:nvSpPr>
        <p:spPr>
          <a:xfrm>
            <a:off x="5122333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FCBF68-E6C3-4AC1-9118-DB0886CB96EE}"/>
              </a:ext>
            </a:extLst>
          </p:cNvPr>
          <p:cNvSpPr txBox="1"/>
          <p:nvPr/>
        </p:nvSpPr>
        <p:spPr>
          <a:xfrm>
            <a:off x="5122333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Pipeline + Stable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DD07D-F5C2-4D17-B393-DBDC73109E6A}"/>
              </a:ext>
            </a:extLst>
          </p:cNvPr>
          <p:cNvSpPr txBox="1"/>
          <p:nvPr/>
        </p:nvSpPr>
        <p:spPr>
          <a:xfrm>
            <a:off x="5058833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DirectTRT + C++ post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+ patch chain.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약 14 ms / 80 Hz.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C7473CF-BBAF-46B2-8108-E42FDE2C122C}"/>
              </a:ext>
            </a:extLst>
          </p:cNvPr>
          <p:cNvSpPr/>
          <p:nvPr/>
        </p:nvSpPr>
        <p:spPr>
          <a:xfrm>
            <a:off x="8013700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AC03AC-B1F7-4F95-8D0F-E241552B6FCB}"/>
              </a:ext>
            </a:extLst>
          </p:cNvPr>
          <p:cNvSpPr txBox="1"/>
          <p:nvPr/>
        </p:nvSpPr>
        <p:spPr>
          <a:xfrm>
            <a:off x="7493000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AFA0F8-705D-473A-B4BA-D27BF5E52302}"/>
              </a:ext>
            </a:extLst>
          </p:cNvPr>
          <p:cNvSpPr txBox="1"/>
          <p:nvPr/>
        </p:nvSpPr>
        <p:spPr>
          <a:xfrm>
            <a:off x="7493000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Dataset v3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D57E9F-50A3-4DD4-9ED7-64469E9D1A5D}"/>
              </a:ext>
            </a:extLst>
          </p:cNvPr>
          <p:cNvSpPr txBox="1"/>
          <p:nvPr/>
        </p:nvSpPr>
        <p:spPr>
          <a:xfrm>
            <a:off x="7429500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4 옷차림 × 6 속도.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1,300장 / v3 학습.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Robustness 확보.</a:t>
            </a:r>
          </a:p>
        </p:txBody>
      </p:sp>
    </p:spTree>
    <p:extLst>
      <p:ext uri="{BB962C8B-B14F-4D97-AF65-F5344CB8AC3E}">
        <p14:creationId xmlns:p14="http://schemas.microsoft.com/office/powerpoint/2010/main" val="129136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7000" y="190500"/>
            <a:ext cx="6350000" cy="4635500"/>
          </a:xfrm>
          <a:prstGeom prst="ellipse">
            <a:avLst/>
          </a:prstGeom>
          <a:solidFill>
            <a:srgbClr val="E8941A">
              <a:alpha val="6000"/>
            </a:srgbClr>
          </a:solidFill>
          <a:ln w="3810">
            <a:solidFill>
              <a:srgbClr val="E8941A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88900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kern="0" spc="-15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914400" y="2159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07A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</a:p>
        </p:txBody>
      </p:sp>
      <p:sp>
        <p:nvSpPr>
          <p:cNvPr id="6" name="Shape 4"/>
          <p:cNvSpPr/>
          <p:nvPr/>
        </p:nvSpPr>
        <p:spPr>
          <a:xfrm>
            <a:off x="3017520" y="2857500"/>
            <a:ext cx="3108960" cy="0"/>
          </a:xfrm>
          <a:prstGeom prst="line">
            <a:avLst/>
          </a:prstGeom>
          <a:noFill/>
          <a:ln w="762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3048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 Lab  ·  Assistive &amp; Rehabilitation Robotics Lab  ·  Chung-Ang University  ·  조병준</a:t>
            </a:r>
          </a:p>
        </p:txBody>
      </p:sp>
    </p:spTree>
    <p:extLst>
      <p:ext uri="{BB962C8B-B14F-4D97-AF65-F5344CB8AC3E}">
        <p14:creationId xmlns:p14="http://schemas.microsoft.com/office/powerpoint/2010/main" val="2068027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RLAB Editorial">
      <a:dk1>
        <a:srgbClr val="171B5E"/>
      </a:dk1>
      <a:lt1>
        <a:srgbClr val="F7F5F0"/>
      </a:lt1>
      <a:dk2>
        <a:srgbClr val="171B5E"/>
      </a:dk2>
      <a:lt2>
        <a:srgbClr val="EDE9E1"/>
      </a:lt2>
      <a:accent1>
        <a:srgbClr val="E8941A"/>
      </a:accent1>
      <a:accent2>
        <a:srgbClr val="171B5E"/>
      </a:accent2>
      <a:accent3>
        <a:srgbClr val="E8941A"/>
      </a:accent3>
      <a:accent4>
        <a:srgbClr val="171B5E"/>
      </a:accent4>
      <a:accent5>
        <a:srgbClr val="E8941A"/>
      </a:accent5>
      <a:accent6>
        <a:srgbClr val="171B5E"/>
      </a:accent6>
      <a:hlink>
        <a:srgbClr val="E8941A"/>
      </a:hlink>
      <a:folHlink>
        <a:srgbClr val="171B5E"/>
      </a:folHlink>
    </a:clrScheme>
    <a:fontScheme name="ARLAB Fonts">
      <a:majorFont>
        <a:latin typeface="Pretendar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BBC96D6-0F3F-4406-8AD8-4FCF2461999B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966</Words>
  <Application>Microsoft Office PowerPoint</Application>
  <PresentationFormat>화면 슬라이드 쇼(16:9)</PresentationFormat>
  <Paragraphs>212</Paragraphs>
  <Slides>19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 Lab Research Presentation Template</dc:title>
  <dc:subject>H-Grow / H-Walker · Assistive &amp; Rehabilitation Robotics</dc:subject>
  <dc:creator>Byungjoon Cho · CAU ARLAB</dc:creator>
  <cp:lastModifiedBy>병준 조</cp:lastModifiedBy>
  <cp:revision>10</cp:revision>
  <dcterms:created xsi:type="dcterms:W3CDTF">2026-03-11T01:58:52Z</dcterms:created>
  <dcterms:modified xsi:type="dcterms:W3CDTF">2026-03-17T04:00:21Z</dcterms:modified>
</cp:coreProperties>
</file>