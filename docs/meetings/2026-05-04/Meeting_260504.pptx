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6" r:id="rId1"/>
  </p:sldMasterIdLst>
  <p:notesMasterIdLst>
    <p:notesMasterId r:id="rId18"/>
  </p:notesMasterIdLst>
  <p:sldIdLst>
    <p:sldId id="405" r:id="rId2"/>
    <p:sldId id="394" r:id="rId3"/>
    <p:sldId id="396" r:id="rId4"/>
    <p:sldId id="406" r:id="rId5"/>
    <p:sldId id="410" r:id="rId6"/>
    <p:sldId id="399" r:id="rId7"/>
    <p:sldId id="398" r:id="rId8"/>
    <p:sldId id="412" r:id="rId9"/>
    <p:sldId id="400" r:id="rId10"/>
    <p:sldId id="411" r:id="rId11"/>
    <p:sldId id="408" r:id="rId12"/>
    <p:sldId id="387" r:id="rId13"/>
    <p:sldId id="404" r:id="rId14"/>
    <p:sldId id="389" r:id="rId15"/>
    <p:sldId id="407" r:id="rId16"/>
    <p:sldId id="403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42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810ACC-D5F6-0F42-A17D-8B8DF0AA1B19}" v="25" dt="2026-05-03T15:26:20.6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12" autoAdjust="0"/>
    <p:restoredTop sz="96212" autoAdjust="0"/>
  </p:normalViewPr>
  <p:slideViewPr>
    <p:cSldViewPr snapToGrid="0" snapToObjects="1">
      <p:cViewPr varScale="1">
        <p:scale>
          <a:sx n="109" d="100"/>
          <a:sy n="109" d="100"/>
        </p:scale>
        <p:origin x="184" y="1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5" d="100"/>
          <a:sy n="95" d="100"/>
        </p:scale>
        <p:origin x="3112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9275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Method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  <p:sp>
        <p:nvSpPr>
          <p:cNvPr id="61" name="AutoPN"/>
          <p:cNvSpPr txBox="1"/>
          <p:nvPr/>
        </p:nvSpPr>
        <p:spPr>
          <a:xfrm>
            <a:off x="8156400" y="76200"/>
            <a:ext cx="8382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AA115528-A004-4107-2D45-A0E0C2B5E004}" type="slidenum">
              <a:rPr lang="en-US" sz="14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‹#›</a:t>
            </a:fld>
            <a:endParaRPr lang="en-US" sz="700" dirty="0">
              <a:solidFill>
                <a:srgbClr val="9DA2B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Na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Method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  <p:sp>
        <p:nvSpPr>
          <p:cNvPr id="61" name="AutoPN"/>
          <p:cNvSpPr txBox="1"/>
          <p:nvPr/>
        </p:nvSpPr>
        <p:spPr>
          <a:xfrm>
            <a:off x="7924800" y="76200"/>
            <a:ext cx="9144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AA115528-A002-4107-2D45-A0E0C2B5E002}" type="slidenum">
              <a:rPr lang="en-US" sz="14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‹#›</a:t>
            </a:fld>
            <a:endParaRPr lang="en-US" sz="700" dirty="0">
              <a:solidFill>
                <a:srgbClr val="9DA2B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Na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Na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TopAccent"/>
          <p:cNvSpPr/>
          <p:nvPr userDrawn="1"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E8941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2" name="WatermarkCBJ"/>
          <p:cNvSpPr/>
          <p:nvPr userDrawn="1"/>
        </p:nvSpPr>
        <p:spPr>
          <a:xfrm>
            <a:off x="63500" y="4991100"/>
            <a:ext cx="12700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 marL="0" indent="0">
              <a:buNone/>
            </a:pPr>
            <a:r>
              <a:rPr lang="en-US" sz="400" dirty="0">
                <a:solidFill>
                  <a:srgbClr val="D6D0C7"/>
                </a:solidFill>
                <a:latin typeface="Pretendard"/>
                <a:ea typeface="Pretendard"/>
              </a:rPr>
              <a:t>Designed by CBJ</a:t>
            </a:r>
          </a:p>
        </p:txBody>
      </p:sp>
      <p:sp>
        <p:nvSpPr>
          <p:cNvPr id="2" name="AutoPN">
            <a:extLst>
              <a:ext uri="{FF2B5EF4-FFF2-40B4-BE49-F238E27FC236}">
                <a16:creationId xmlns:a16="http://schemas.microsoft.com/office/drawing/2014/main" id="{D43203E8-B6AA-7016-6754-5B93910BA18F}"/>
              </a:ext>
            </a:extLst>
          </p:cNvPr>
          <p:cNvSpPr txBox="1"/>
          <p:nvPr userDrawn="1"/>
        </p:nvSpPr>
        <p:spPr>
          <a:xfrm>
            <a:off x="8156400" y="76200"/>
            <a:ext cx="8382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AA115528-A004-4107-2D45-A0E0C2B5E004}" type="slidenum">
              <a:rPr lang="en-US" sz="14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‹#›</a:t>
            </a:fld>
            <a:endParaRPr lang="en-US" sz="700" dirty="0">
              <a:solidFill>
                <a:srgbClr val="9DA2B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12" r:id="rId11"/>
    <p:sldLayoutId id="2147483713" r:id="rId12"/>
    <p:sldLayoutId id="2147483755" r:id="rId13"/>
    <p:sldLayoutId id="2147483660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171B5E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rgbClr val="2D3142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2D3142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VerticalAccent"/>
          <p:cNvSpPr/>
          <p:nvPr/>
        </p:nvSpPr>
        <p:spPr>
          <a:xfrm>
            <a:off x="635000" y="1117600"/>
            <a:ext cx="25400" cy="203200"/>
          </a:xfrm>
          <a:prstGeom prst="rect">
            <a:avLst/>
          </a:prstGeom>
          <a:solidFill>
            <a:srgbClr val="E8941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ag"/>
          <p:cNvSpPr txBox="1"/>
          <p:nvPr/>
        </p:nvSpPr>
        <p:spPr>
          <a:xfrm>
            <a:off x="762000" y="10922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900" b="1" spc="300" dirty="0">
                <a:solidFill>
                  <a:srgbClr val="E8941A"/>
                </a:solidFill>
                <a:latin typeface="Pretendard"/>
                <a:ea typeface="Pretendard"/>
              </a:rPr>
              <a:t>FIRST MEETING</a:t>
            </a:r>
          </a:p>
        </p:txBody>
      </p:sp>
      <p:sp>
        <p:nvSpPr>
          <p:cNvPr id="32" name="MainTitle"/>
          <p:cNvSpPr txBox="1"/>
          <p:nvPr/>
        </p:nvSpPr>
        <p:spPr>
          <a:xfrm>
            <a:off x="584600" y="1524000"/>
            <a:ext cx="7874000" cy="215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5600"/>
              </a:lnSpc>
            </a:pPr>
            <a:r>
              <a:rPr lang="en-US" altLang="ko-KR" sz="5000" b="1" dirty="0"/>
              <a:t>H-Walker</a:t>
            </a:r>
          </a:p>
          <a:p>
            <a:pPr>
              <a:lnSpc>
                <a:spcPts val="5600"/>
              </a:lnSpc>
            </a:pPr>
            <a:r>
              <a:rPr lang="en-US" altLang="ko-KR" sz="5000" b="1" dirty="0"/>
              <a:t>Real-Time Vision Control</a:t>
            </a:r>
          </a:p>
        </p:txBody>
      </p:sp>
      <p:sp>
        <p:nvSpPr>
          <p:cNvPr id="33" name="Subtitle"/>
          <p:cNvSpPr txBox="1"/>
          <p:nvPr/>
        </p:nvSpPr>
        <p:spPr>
          <a:xfrm>
            <a:off x="635000" y="38100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altLang="ko-KR" sz="1400" dirty="0">
                <a:solidFill>
                  <a:srgbClr val="3D4255"/>
                </a:solidFill>
                <a:ea typeface="Pretendard"/>
              </a:rPr>
              <a:t>케이블 드리븐 보행 보조기를 위한 실시간 하체 포즈 추정 시스템</a:t>
            </a:r>
          </a:p>
        </p:txBody>
      </p:sp>
      <p:sp>
        <p:nvSpPr>
          <p:cNvPr id="35" name="AuthorInfo"/>
          <p:cNvSpPr txBox="1"/>
          <p:nvPr/>
        </p:nvSpPr>
        <p:spPr>
          <a:xfrm>
            <a:off x="635000" y="4546600"/>
            <a:ext cx="59055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71B5E"/>
                </a:solidFill>
                <a:latin typeface="Pretendard"/>
                <a:ea typeface="Pretendard"/>
              </a:rPr>
              <a:t>조병준  |  중앙대학교 기계공학과  |  AR Lab</a:t>
            </a:r>
          </a:p>
        </p:txBody>
      </p:sp>
      <p:sp>
        <p:nvSpPr>
          <p:cNvPr id="37" name="HLine"/>
          <p:cNvSpPr/>
          <p:nvPr/>
        </p:nvSpPr>
        <p:spPr>
          <a:xfrm>
            <a:off x="635000" y="4419600"/>
            <a:ext cx="762000" cy="0"/>
          </a:xfrm>
          <a:prstGeom prst="line">
            <a:avLst/>
          </a:prstGeom>
          <a:ln w="19050">
            <a:solidFill>
              <a:srgbClr val="E8941A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626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438912" y="384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621792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kern="0" spc="-15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566928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1188720" y="1709928"/>
            <a:ext cx="0" cy="402336"/>
          </a:xfrm>
          <a:prstGeom prst="line">
            <a:avLst/>
          </a:prstGeom>
          <a:noFill/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371600" y="16733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15" name="Text 13"/>
          <p:cNvSpPr/>
          <p:nvPr/>
        </p:nvSpPr>
        <p:spPr>
          <a:xfrm>
            <a:off x="1371600" y="197510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동기 및 방향</a:t>
            </a:r>
          </a:p>
        </p:txBody>
      </p:sp>
      <p:sp>
        <p:nvSpPr>
          <p:cNvPr id="16" name="Text 14"/>
          <p:cNvSpPr/>
          <p:nvPr/>
        </p:nvSpPr>
        <p:spPr>
          <a:xfrm>
            <a:off x="566928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1188720" y="2542032"/>
            <a:ext cx="0" cy="402336"/>
          </a:xfrm>
          <a:prstGeom prst="line">
            <a:avLst/>
          </a:prstGeom>
          <a:noFill/>
          <a:ln w="1270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371600" y="25054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6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Experiments</a:t>
            </a:r>
          </a:p>
        </p:txBody>
      </p:sp>
      <p:sp>
        <p:nvSpPr>
          <p:cNvPr id="19" name="Text 17"/>
          <p:cNvSpPr/>
          <p:nvPr/>
        </p:nvSpPr>
        <p:spPr>
          <a:xfrm>
            <a:off x="1371600" y="280720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F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포즈 인식 실험 – 모델, 속도, 안정성</a:t>
            </a:r>
          </a:p>
        </p:txBody>
      </p:sp>
      <p:sp>
        <p:nvSpPr>
          <p:cNvPr id="20" name="Text 18"/>
          <p:cNvSpPr/>
          <p:nvPr/>
        </p:nvSpPr>
        <p:spPr>
          <a:xfrm>
            <a:off x="566928" y="3328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1188720" y="3374136"/>
            <a:ext cx="0" cy="402336"/>
          </a:xfrm>
          <a:prstGeom prst="line">
            <a:avLst/>
          </a:prstGeom>
          <a:noFill/>
          <a:ln w="1270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371600" y="3337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6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Discussion</a:t>
            </a:r>
          </a:p>
        </p:txBody>
      </p:sp>
      <p:sp>
        <p:nvSpPr>
          <p:cNvPr id="23" name="Text 21"/>
          <p:cNvSpPr/>
          <p:nvPr/>
        </p:nvSpPr>
        <p:spPr>
          <a:xfrm>
            <a:off x="1371600" y="363931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F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빨라졌는가 · 실패 교훈 · 방향성</a:t>
            </a:r>
          </a:p>
        </p:txBody>
      </p:sp>
      <p:sp>
        <p:nvSpPr>
          <p:cNvPr id="24" name="Text 22"/>
          <p:cNvSpPr/>
          <p:nvPr/>
        </p:nvSpPr>
        <p:spPr>
          <a:xfrm>
            <a:off x="566928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300" dirty="0"/>
          </a:p>
        </p:txBody>
      </p:sp>
      <p:sp>
        <p:nvSpPr>
          <p:cNvPr id="25" name="Shape 23"/>
          <p:cNvSpPr/>
          <p:nvPr/>
        </p:nvSpPr>
        <p:spPr>
          <a:xfrm>
            <a:off x="1188720" y="4206240"/>
            <a:ext cx="0" cy="402336"/>
          </a:xfrm>
          <a:prstGeom prst="line">
            <a:avLst/>
          </a:prstGeom>
          <a:noFill/>
          <a:ln w="1270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371600" y="4169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6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Steps</a:t>
            </a:r>
          </a:p>
        </p:txBody>
      </p:sp>
      <p:sp>
        <p:nvSpPr>
          <p:cNvPr id="27" name="Text 25"/>
          <p:cNvSpPr/>
          <p:nvPr/>
        </p:nvSpPr>
        <p:spPr>
          <a:xfrm>
            <a:off x="1371600" y="447141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F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2주 — v3 → TRT → 실모터</a:t>
            </a:r>
          </a:p>
        </p:txBody>
      </p:sp>
    </p:spTree>
    <p:extLst>
      <p:ext uri="{BB962C8B-B14F-4D97-AF65-F5344CB8AC3E}">
        <p14:creationId xmlns:p14="http://schemas.microsoft.com/office/powerpoint/2010/main" val="22841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438912" y="468411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동기</a:t>
            </a:r>
          </a:p>
        </p:txBody>
      </p:sp>
      <p:sp>
        <p:nvSpPr>
          <p:cNvPr id="8" name="Text 6"/>
          <p:cNvSpPr/>
          <p:nvPr/>
        </p:nvSpPr>
        <p:spPr>
          <a:xfrm>
            <a:off x="438912" y="11155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/>
          </a:p>
        </p:txBody>
      </p:sp>
      <p:sp>
        <p:nvSpPr>
          <p:cNvPr id="9" name="Shape 7"/>
          <p:cNvSpPr/>
          <p:nvPr/>
        </p:nvSpPr>
        <p:spPr>
          <a:xfrm>
            <a:off x="438912" y="1241814"/>
            <a:ext cx="8321040" cy="0"/>
          </a:xfrm>
          <a:prstGeom prst="line">
            <a:avLst/>
          </a:prstGeom>
          <a:noFill/>
          <a:ln w="635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38912" y="1442982"/>
            <a:ext cx="91440" cy="219456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138811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VISION</a:t>
            </a:r>
            <a:endParaRPr lang="en-US" b="1" dirty="0">
              <a:solidFill>
                <a:srgbClr val="171B5E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2028198"/>
            <a:ext cx="47640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IMU 만으로는 워커와 사람 간의 거리, 케이블 slack 정도 등 알기 힘든 값들이 많음.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Wearable 에서는 사용할 수 없는 Walker만의 보행 상태 추정 방식</a:t>
            </a:r>
          </a:p>
          <a:p>
            <a:pPr marL="0" indent="0">
              <a:buNone/>
            </a:pPr>
            <a:endParaRPr lang="en-US" sz="1100" dirty="0">
              <a:solidFill>
                <a:srgbClr val="3D4255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앞 혹은 옆에서 자세를 인식하며 실시간으로 보행 상태를 추정 가능.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비전은 다리 전체의 상태를 파악할 수 있음.</a:t>
            </a:r>
          </a:p>
        </p:txBody>
      </p:sp>
      <p:sp>
        <p:nvSpPr>
          <p:cNvPr id="13" name="Shape 11"/>
          <p:cNvSpPr/>
          <p:nvPr/>
        </p:nvSpPr>
        <p:spPr>
          <a:xfrm>
            <a:off x="667512" y="2273615"/>
            <a:ext cx="4709160" cy="0"/>
          </a:xfrm>
          <a:prstGeom prst="line">
            <a:avLst/>
          </a:prstGeom>
          <a:noFill/>
          <a:ln w="6350">
            <a:solidFill>
              <a:srgbClr val="ECE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230251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/>
          </a:p>
        </p:txBody>
      </p:sp>
      <p:sp>
        <p:nvSpPr>
          <p:cNvPr id="16" name="Text 14"/>
          <p:cNvSpPr/>
          <p:nvPr/>
        </p:nvSpPr>
        <p:spPr>
          <a:xfrm>
            <a:off x="640080" y="2595126"/>
            <a:ext cx="4434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/>
          </a:p>
        </p:txBody>
      </p:sp>
      <p:sp>
        <p:nvSpPr>
          <p:cNvPr id="25" name="Text 23"/>
          <p:cNvSpPr/>
          <p:nvPr/>
        </p:nvSpPr>
        <p:spPr>
          <a:xfrm>
            <a:off x="2994660" y="4446489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ZED X Mini · NVIDIA Jetson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844EFA9-60A0-635C-001F-ECA332B216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39336" y="2387915"/>
            <a:ext cx="2010586" cy="228717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A891649-3C86-A032-A97F-5F6F253D21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3878" y="2938668"/>
            <a:ext cx="2010586" cy="1385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738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438912" y="402336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방향</a:t>
            </a:r>
          </a:p>
        </p:txBody>
      </p:sp>
      <p:sp>
        <p:nvSpPr>
          <p:cNvPr id="8" name="Shape 6"/>
          <p:cNvSpPr/>
          <p:nvPr/>
        </p:nvSpPr>
        <p:spPr>
          <a:xfrm>
            <a:off x="438912" y="1115568"/>
            <a:ext cx="8321040" cy="0"/>
          </a:xfrm>
          <a:prstGeom prst="line">
            <a:avLst/>
          </a:prstGeom>
          <a:noFill/>
          <a:ln w="635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38912" y="124358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</a:t>
            </a:r>
          </a:p>
        </p:txBody>
      </p:sp>
      <p:sp>
        <p:nvSpPr>
          <p:cNvPr id="10" name="Text 8"/>
          <p:cNvSpPr/>
          <p:nvPr/>
        </p:nvSpPr>
        <p:spPr>
          <a:xfrm>
            <a:off x="438912" y="153619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제어를 하기위해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 반응 시간 (약 100 ms) 보다 빠른 센서 입력 필요.</a:t>
            </a:r>
          </a:p>
        </p:txBody>
      </p:sp>
      <p:sp>
        <p:nvSpPr>
          <p:cNvPr id="11" name="Text 9"/>
          <p:cNvSpPr/>
          <p:nvPr/>
        </p:nvSpPr>
        <p:spPr>
          <a:xfrm>
            <a:off x="438912" y="22677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정확성</a:t>
            </a:r>
          </a:p>
        </p:txBody>
      </p:sp>
      <p:sp>
        <p:nvSpPr>
          <p:cNvPr id="12" name="Text 10"/>
          <p:cNvSpPr/>
          <p:nvPr/>
        </p:nvSpPr>
        <p:spPr>
          <a:xfrm>
            <a:off x="438911" y="2560320"/>
            <a:ext cx="344728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현재의 hip, knee, ankle joint의 위치 및 상태를 정확하게 인식</a:t>
            </a:r>
          </a:p>
        </p:txBody>
      </p:sp>
      <p:sp>
        <p:nvSpPr>
          <p:cNvPr id="13" name="Text 11"/>
          <p:cNvSpPr/>
          <p:nvPr/>
        </p:nvSpPr>
        <p:spPr>
          <a:xfrm>
            <a:off x="438912" y="3291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최적의 보조</a:t>
            </a:r>
          </a:p>
        </p:txBody>
      </p:sp>
      <p:sp>
        <p:nvSpPr>
          <p:cNvPr id="14" name="Text 12"/>
          <p:cNvSpPr/>
          <p:nvPr/>
        </p:nvSpPr>
        <p:spPr>
          <a:xfrm>
            <a:off x="438912" y="3584448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Desire Trajectory 생성 &amp; Tracking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Force Profile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Reinforcement Learning</a:t>
            </a:r>
          </a:p>
        </p:txBody>
      </p:sp>
      <p:sp>
        <p:nvSpPr>
          <p:cNvPr id="18" name="Shape 16"/>
          <p:cNvSpPr/>
          <p:nvPr/>
        </p:nvSpPr>
        <p:spPr>
          <a:xfrm>
            <a:off x="8714232" y="1170432"/>
            <a:ext cx="0" cy="0"/>
          </a:xfrm>
          <a:prstGeom prst="line">
            <a:avLst/>
          </a:prstGeom>
          <a:noFill/>
          <a:ln w="1143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886200" y="4553712"/>
            <a:ext cx="0" cy="0"/>
          </a:xfrm>
          <a:prstGeom prst="line">
            <a:avLst/>
          </a:prstGeom>
          <a:noFill/>
          <a:ln w="1143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8714232" y="4553712"/>
            <a:ext cx="0" cy="0"/>
          </a:xfrm>
          <a:prstGeom prst="line">
            <a:avLst/>
          </a:prstGeom>
          <a:noFill/>
          <a:ln w="1143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714232" y="4553712"/>
            <a:ext cx="0" cy="0"/>
          </a:xfrm>
          <a:prstGeom prst="line">
            <a:avLst/>
          </a:prstGeom>
          <a:noFill/>
          <a:ln w="1143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21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FBABB3-CC35-3D45-9FDA-64FF73EDE196}"/>
              </a:ext>
            </a:extLst>
          </p:cNvPr>
          <p:cNvSpPr txBox="1"/>
          <p:nvPr/>
        </p:nvSpPr>
        <p:spPr>
          <a:xfrm>
            <a:off x="444500" y="355600"/>
            <a:ext cx="82550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30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후보 모델 선정 기준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3A860C-49F4-CF4D-B360-D994A75ED76B}"/>
              </a:ext>
            </a:extLst>
          </p:cNvPr>
          <p:cNvSpPr txBox="1"/>
          <p:nvPr/>
        </p:nvSpPr>
        <p:spPr>
          <a:xfrm>
            <a:off x="444500" y="1016000"/>
            <a:ext cx="8255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40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12</a:t>
            </a:r>
            <a:r>
              <a:rPr lang="ko-KR" altLang="en-US" sz="140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개 </a:t>
            </a:r>
            <a:r>
              <a:rPr lang="en" altLang="ko-KR" sz="140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Pose </a:t>
            </a:r>
            <a:r>
              <a:rPr lang="ko-KR" altLang="en-US" sz="140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모델 후보 → 실험 </a:t>
            </a:r>
            <a:r>
              <a:rPr lang="en-US" altLang="ko-KR" sz="140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1 </a:t>
            </a:r>
            <a:r>
              <a:rPr lang="ko-KR" altLang="en-US" sz="140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벤치마크 대상 선정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5F22C5F-75FC-7C4A-AAB0-724623290605}"/>
              </a:ext>
            </a:extLst>
          </p:cNvPr>
          <p:cNvSpPr/>
          <p:nvPr/>
        </p:nvSpPr>
        <p:spPr>
          <a:xfrm>
            <a:off x="444500" y="1422400"/>
            <a:ext cx="8255000" cy="127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940AC61-2FD9-B94B-87C1-2D2E239BA62F}"/>
              </a:ext>
            </a:extLst>
          </p:cNvPr>
          <p:cNvSpPr/>
          <p:nvPr/>
        </p:nvSpPr>
        <p:spPr>
          <a:xfrm>
            <a:off x="444500" y="1752600"/>
            <a:ext cx="4064000" cy="2794000"/>
          </a:xfrm>
          <a:prstGeom prst="rect">
            <a:avLst/>
          </a:prstGeom>
          <a:solidFill>
            <a:srgbClr val="F5F5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6CEC061-6BCC-C14D-AF06-2B7BB2353A3A}"/>
              </a:ext>
            </a:extLst>
          </p:cNvPr>
          <p:cNvSpPr/>
          <p:nvPr/>
        </p:nvSpPr>
        <p:spPr>
          <a:xfrm>
            <a:off x="444500" y="1752600"/>
            <a:ext cx="40640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7CD472-341A-624A-AD76-E472F4610B1F}"/>
              </a:ext>
            </a:extLst>
          </p:cNvPr>
          <p:cNvSpPr txBox="1"/>
          <p:nvPr/>
        </p:nvSpPr>
        <p:spPr>
          <a:xfrm>
            <a:off x="673100" y="1955800"/>
            <a:ext cx="36068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7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선정 기준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867E32-76CD-2F4C-8B26-A96D4AA01183}"/>
              </a:ext>
            </a:extLst>
          </p:cNvPr>
          <p:cNvSpPr txBox="1"/>
          <p:nvPr/>
        </p:nvSpPr>
        <p:spPr>
          <a:xfrm>
            <a:off x="673100" y="2463800"/>
            <a:ext cx="3606800" cy="187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171450" indent="-171450">
              <a:lnSpc>
                <a:spcPts val="2200"/>
              </a:lnSpc>
              <a:spcBef>
                <a:spcPts val="400"/>
              </a:spcBef>
              <a:buFont typeface="Arial"/>
              <a:buChar char="•"/>
            </a:pPr>
            <a:r>
              <a:rPr lang="ko-KR" altLang="en-US" sz="14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실시간성 — E2E &lt; 50 ms</a:t>
            </a:r>
          </a:p>
          <a:p>
            <a:pPr marL="171450" indent="-171450">
              <a:lnSpc>
                <a:spcPts val="2200"/>
              </a:lnSpc>
              <a:spcBef>
                <a:spcPts val="400"/>
              </a:spcBef>
              <a:buFont typeface="Arial"/>
              <a:buChar char="•"/>
            </a:pPr>
            <a:r>
              <a:rPr lang="ko-KR" altLang="en-US" sz="14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정확도 — hip · knee · ankle joint 인식</a:t>
            </a:r>
          </a:p>
          <a:p>
            <a:pPr marL="171450" indent="-171450">
              <a:lnSpc>
                <a:spcPts val="2200"/>
              </a:lnSpc>
              <a:spcBef>
                <a:spcPts val="400"/>
              </a:spcBef>
              <a:buFont typeface="Arial"/>
              <a:buChar char="•"/>
            </a:pPr>
            <a:r>
              <a:rPr lang="ko-KR" altLang="en-US" sz="14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엣지 호환 — Jetson Orin NX 동작 가능</a:t>
            </a:r>
          </a:p>
          <a:p>
            <a:pPr marL="171450" indent="-171450">
              <a:lnSpc>
                <a:spcPts val="2200"/>
              </a:lnSpc>
              <a:spcBef>
                <a:spcPts val="400"/>
              </a:spcBef>
              <a:buFont typeface="Arial"/>
              <a:buChar char="•"/>
            </a:pPr>
            <a:r>
              <a:rPr lang="ko-KR" altLang="en-US" sz="14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배포 용이성 — TRT / ONNX 지원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0DE95E0-05DF-8B45-B749-83F5758C83F0}"/>
              </a:ext>
            </a:extLst>
          </p:cNvPr>
          <p:cNvSpPr/>
          <p:nvPr/>
        </p:nvSpPr>
        <p:spPr>
          <a:xfrm>
            <a:off x="4635500" y="1752600"/>
            <a:ext cx="4064000" cy="2794000"/>
          </a:xfrm>
          <a:prstGeom prst="rect">
            <a:avLst/>
          </a:prstGeom>
          <a:solidFill>
            <a:srgbClr val="F5F5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3BD2A62-47BC-854E-91FC-BDA316E2DB50}"/>
              </a:ext>
            </a:extLst>
          </p:cNvPr>
          <p:cNvSpPr/>
          <p:nvPr/>
        </p:nvSpPr>
        <p:spPr>
          <a:xfrm>
            <a:off x="4635500" y="1752600"/>
            <a:ext cx="40640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7EC431-1BA8-2142-9000-DC1DF3CBD16E}"/>
              </a:ext>
            </a:extLst>
          </p:cNvPr>
          <p:cNvSpPr txBox="1"/>
          <p:nvPr/>
        </p:nvSpPr>
        <p:spPr>
          <a:xfrm>
            <a:off x="4864100" y="1955800"/>
            <a:ext cx="36068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7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검토한 모델군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C9C69E-F9ED-FF40-8FE8-C0F717560A0D}"/>
              </a:ext>
            </a:extLst>
          </p:cNvPr>
          <p:cNvSpPr txBox="1"/>
          <p:nvPr/>
        </p:nvSpPr>
        <p:spPr>
          <a:xfrm>
            <a:off x="4864100" y="2463800"/>
            <a:ext cx="3962400" cy="187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171450" indent="-171450">
              <a:lnSpc>
                <a:spcPts val="2200"/>
              </a:lnSpc>
              <a:spcBef>
                <a:spcPts val="400"/>
              </a:spcBef>
              <a:buFont typeface="Arial"/>
              <a:buChar char="•"/>
            </a:pPr>
            <a:r>
              <a:rPr lang="ko-KR" altLang="en-US" sz="14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YOLO 계열 — YOLOv8</a:t>
            </a:r>
            <a:r>
              <a:rPr lang="en-US" altLang="ko-KR" sz="14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, 11, </a:t>
            </a:r>
            <a:r>
              <a:rPr lang="ko-KR" altLang="en-US" sz="14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26-Pose </a:t>
            </a:r>
            <a:r>
              <a:rPr lang="en-US" altLang="ko-KR" sz="140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n&amp;s</a:t>
            </a:r>
            <a:endParaRPr lang="ko-KR" altLang="en-US" sz="1400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marL="171450" indent="-171450">
              <a:lnSpc>
                <a:spcPts val="2200"/>
              </a:lnSpc>
              <a:spcBef>
                <a:spcPts val="400"/>
              </a:spcBef>
              <a:buFont typeface="Arial"/>
              <a:buChar char="•"/>
            </a:pPr>
            <a:r>
              <a:rPr lang="ko-KR" altLang="en-US" sz="14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MediaPipe 계열 — MediaPipe Pose</a:t>
            </a:r>
          </a:p>
          <a:p>
            <a:pPr marL="171450" indent="-171450">
              <a:lnSpc>
                <a:spcPts val="2200"/>
              </a:lnSpc>
              <a:spcBef>
                <a:spcPts val="400"/>
              </a:spcBef>
              <a:buFont typeface="Arial"/>
              <a:buChar char="•"/>
            </a:pPr>
            <a:r>
              <a:rPr lang="ko-KR" altLang="en-US" sz="14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RTM 계열 — RTMPose-s/m</a:t>
            </a:r>
          </a:p>
          <a:p>
            <a:pPr marL="171450" indent="-171450">
              <a:lnSpc>
                <a:spcPts val="2200"/>
              </a:lnSpc>
              <a:spcBef>
                <a:spcPts val="400"/>
              </a:spcBef>
              <a:buFont typeface="Arial"/>
              <a:buChar char="•"/>
            </a:pPr>
            <a:r>
              <a:rPr lang="ko-KR" altLang="en-US" sz="14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Transformer 계열 — ViTPose, HRNet 등</a:t>
            </a:r>
          </a:p>
        </p:txBody>
      </p:sp>
    </p:spTree>
    <p:extLst>
      <p:ext uri="{BB962C8B-B14F-4D97-AF65-F5344CB8AC3E}">
        <p14:creationId xmlns:p14="http://schemas.microsoft.com/office/powerpoint/2010/main" val="1295970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444500" y="406400"/>
            <a:ext cx="8318500" cy="6604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 1 — E2E Latency 비교</a:t>
            </a:r>
          </a:p>
        </p:txBody>
      </p:sp>
      <p:sp>
        <p:nvSpPr>
          <p:cNvPr id="101" name="Subtitle"/>
          <p:cNvSpPr txBox="1"/>
          <p:nvPr/>
        </p:nvSpPr>
        <p:spPr>
          <a:xfrm>
            <a:off x="444500" y="1117600"/>
            <a:ext cx="831850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YOLO 계열 6종만 통과. MediaPipe · RTMPose 실패.</a:t>
            </a:r>
          </a:p>
        </p:txBody>
      </p:sp>
      <p:sp>
        <p:nvSpPr>
          <p:cNvPr id="102" name="Divider"/>
          <p:cNvSpPr/>
          <p:nvPr/>
        </p:nvSpPr>
        <p:spPr>
          <a:xfrm>
            <a:off x="444500" y="1536700"/>
            <a:ext cx="8318500" cy="0"/>
          </a:xfrm>
          <a:prstGeom prst="line">
            <a:avLst/>
          </a:prstGeom>
          <a:ln w="9525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ImageBg"/>
          <p:cNvSpPr/>
          <p:nvPr/>
        </p:nvSpPr>
        <p:spPr>
          <a:xfrm>
            <a:off x="444500" y="1714500"/>
            <a:ext cx="8255000" cy="2794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sz="1400" dirty="0"/>
          </a:p>
        </p:txBody>
      </p:sp>
      <p:sp>
        <p:nvSpPr>
          <p:cNvPr id="104" name="TL_H"/>
          <p:cNvSpPr/>
          <p:nvPr/>
        </p:nvSpPr>
        <p:spPr>
          <a:xfrm>
            <a:off x="444500" y="171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TL_V"/>
          <p:cNvSpPr/>
          <p:nvPr/>
        </p:nvSpPr>
        <p:spPr>
          <a:xfrm>
            <a:off x="444500" y="17145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TR_H"/>
          <p:cNvSpPr/>
          <p:nvPr/>
        </p:nvSpPr>
        <p:spPr>
          <a:xfrm>
            <a:off x="8521700" y="171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TR_V"/>
          <p:cNvSpPr/>
          <p:nvPr/>
        </p:nvSpPr>
        <p:spPr>
          <a:xfrm>
            <a:off x="8699500" y="17145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BL_H"/>
          <p:cNvSpPr/>
          <p:nvPr/>
        </p:nvSpPr>
        <p:spPr>
          <a:xfrm>
            <a:off x="444500" y="4508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BL_V"/>
          <p:cNvSpPr/>
          <p:nvPr/>
        </p:nvSpPr>
        <p:spPr>
          <a:xfrm>
            <a:off x="444500" y="43307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BR_H"/>
          <p:cNvSpPr/>
          <p:nvPr/>
        </p:nvSpPr>
        <p:spPr>
          <a:xfrm>
            <a:off x="8521700" y="4508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BR_V"/>
          <p:cNvSpPr/>
          <p:nvPr/>
        </p:nvSpPr>
        <p:spPr>
          <a:xfrm>
            <a:off x="8699500" y="43307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PlusH"/>
          <p:cNvSpPr/>
          <p:nvPr/>
        </p:nvSpPr>
        <p:spPr>
          <a:xfrm>
            <a:off x="4318000" y="3111500"/>
            <a:ext cx="508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3" name="PlusV"/>
          <p:cNvSpPr/>
          <p:nvPr/>
        </p:nvSpPr>
        <p:spPr>
          <a:xfrm>
            <a:off x="4572000" y="2857500"/>
            <a:ext cx="0" cy="508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5" name="Caption"/>
          <p:cNvSpPr txBox="1"/>
          <p:nvPr/>
        </p:nvSpPr>
        <p:spPr>
          <a:xfrm>
            <a:off x="444500" y="4610100"/>
            <a:ext cx="83185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Fig. 4 — 12개 Pose 모델 E2E Latency</a:t>
            </a:r>
          </a:p>
        </p:txBody>
      </p:sp>
      <p:pic>
        <p:nvPicPr>
          <p:cNvPr id="116" name="Picture 115" descr="fig_latenc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1714500"/>
            <a:ext cx="825500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936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"/>
          <p:cNvSpPr txBox="1"/>
          <p:nvPr/>
        </p:nvSpPr>
        <p:spPr>
          <a:xfrm>
            <a:off x="444500" y="355600"/>
            <a:ext cx="8255000" cy="609600"/>
          </a:xfrm>
          <a:prstGeom prst="rect">
            <a:avLst/>
          </a:prstGeom>
          <a:noFill/>
        </p:spPr>
        <p:txBody>
          <a:bodyPr wrap="square" anchor="b" anchorCtr="0"/>
          <a:lstStyle/>
          <a:p>
            <a:pPr marL="0" indent="0">
              <a:buNone/>
            </a:pPr>
            <a:r>
              <a:rPr lang="ko-KR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 1 — 12개 Pose 모델 벤치마크</a:t>
            </a:r>
          </a:p>
        </p:txBody>
      </p:sp>
      <p:sp>
        <p:nvSpPr>
          <p:cNvPr id="203" name="Header0"/>
          <p:cNvSpPr/>
          <p:nvPr/>
        </p:nvSpPr>
        <p:spPr>
          <a:xfrm>
            <a:off x="444500" y="1117600"/>
            <a:ext cx="1651000" cy="381000"/>
          </a:xfrm>
          <a:prstGeom prst="rect">
            <a:avLst/>
          </a:prstGeom>
          <a:solidFill>
            <a:srgbClr val="171B5E"/>
          </a:solidFill>
          <a:ln w="0">
            <a:noFill/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</a:rPr>
              <a:t>지표</a:t>
            </a:r>
          </a:p>
        </p:txBody>
      </p:sp>
      <p:sp>
        <p:nvSpPr>
          <p:cNvPr id="204" name="Header1"/>
          <p:cNvSpPr/>
          <p:nvPr/>
        </p:nvSpPr>
        <p:spPr>
          <a:xfrm>
            <a:off x="2095500" y="1117600"/>
            <a:ext cx="2197100" cy="381000"/>
          </a:xfrm>
          <a:prstGeom prst="rect">
            <a:avLst/>
          </a:prstGeom>
          <a:solidFill>
            <a:srgbClr val="E8941A"/>
          </a:solidFill>
          <a:ln w="0">
            <a:noFill/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</a:rPr>
              <a:t>YOLOv8n-Pose</a:t>
            </a:r>
          </a:p>
        </p:txBody>
      </p:sp>
      <p:sp>
        <p:nvSpPr>
          <p:cNvPr id="205" name="Header2"/>
          <p:cNvSpPr/>
          <p:nvPr/>
        </p:nvSpPr>
        <p:spPr>
          <a:xfrm>
            <a:off x="4292600" y="1117600"/>
            <a:ext cx="2197100" cy="381000"/>
          </a:xfrm>
          <a:prstGeom prst="rect">
            <a:avLst/>
          </a:prstGeom>
          <a:solidFill>
            <a:srgbClr val="E8941A"/>
          </a:solidFill>
          <a:ln w="0">
            <a:noFill/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</a:rPr>
              <a:t>YOLO26s-Pose</a:t>
            </a:r>
          </a:p>
        </p:txBody>
      </p:sp>
      <p:sp>
        <p:nvSpPr>
          <p:cNvPr id="206" name="Header3"/>
          <p:cNvSpPr/>
          <p:nvPr/>
        </p:nvSpPr>
        <p:spPr>
          <a:xfrm>
            <a:off x="6489700" y="1117600"/>
            <a:ext cx="2209800" cy="381000"/>
          </a:xfrm>
          <a:prstGeom prst="rect">
            <a:avLst/>
          </a:prstGeom>
          <a:solidFill>
            <a:srgbClr val="E8941A"/>
          </a:solidFill>
          <a:ln w="0">
            <a:noFill/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</a:rPr>
              <a:t>MediaPipe / RTMPose</a:t>
            </a:r>
          </a:p>
        </p:txBody>
      </p:sp>
      <p:sp>
        <p:nvSpPr>
          <p:cNvPr id="207" name="Cell0_0"/>
          <p:cNvSpPr/>
          <p:nvPr/>
        </p:nvSpPr>
        <p:spPr>
          <a:xfrm>
            <a:off x="444500" y="1498600"/>
            <a:ext cx="1651000" cy="736600"/>
          </a:xfrm>
          <a:prstGeom prst="rect">
            <a:avLst/>
          </a:prstGeom>
          <a:solidFill>
            <a:srgbClr val="EDE9E1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</a:rPr>
              <a:t>E2E mean</a:t>
            </a:r>
          </a:p>
        </p:txBody>
      </p:sp>
      <p:sp>
        <p:nvSpPr>
          <p:cNvPr id="208" name="Cell0_1"/>
          <p:cNvSpPr/>
          <p:nvPr/>
        </p:nvSpPr>
        <p:spPr>
          <a:xfrm>
            <a:off x="2095500" y="1498600"/>
            <a:ext cx="21971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약 35 ms (가장 빠름)</a:t>
            </a:r>
          </a:p>
        </p:txBody>
      </p:sp>
      <p:sp>
        <p:nvSpPr>
          <p:cNvPr id="209" name="Cell0_2"/>
          <p:cNvSpPr/>
          <p:nvPr/>
        </p:nvSpPr>
        <p:spPr>
          <a:xfrm>
            <a:off x="4292600" y="1498600"/>
            <a:ext cx="21971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약 44 </a:t>
            </a:r>
            <a:r>
              <a:rPr lang="ko-KR" sz="1050" kern="0" dirty="0" err="1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ms</a:t>
            </a: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 (&lt;50 </a:t>
            </a:r>
            <a:r>
              <a:rPr lang="ko-KR" sz="1050" kern="0" dirty="0" err="1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ms</a:t>
            </a: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 </a:t>
            </a:r>
            <a:r>
              <a:rPr lang="ko-KR" sz="1050" kern="0" dirty="0" err="1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아슬</a:t>
            </a: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)</a:t>
            </a:r>
          </a:p>
        </p:txBody>
      </p:sp>
      <p:sp>
        <p:nvSpPr>
          <p:cNvPr id="210" name="Cell0_3"/>
          <p:cNvSpPr/>
          <p:nvPr/>
        </p:nvSpPr>
        <p:spPr>
          <a:xfrm>
            <a:off x="6489700" y="1498600"/>
            <a:ext cx="22098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약 64 / 150+ </a:t>
            </a:r>
          </a:p>
        </p:txBody>
      </p:sp>
      <p:sp>
        <p:nvSpPr>
          <p:cNvPr id="211" name="Cell1_0"/>
          <p:cNvSpPr/>
          <p:nvPr/>
        </p:nvSpPr>
        <p:spPr>
          <a:xfrm>
            <a:off x="444500" y="2235200"/>
            <a:ext cx="1651000" cy="736600"/>
          </a:xfrm>
          <a:prstGeom prst="rect">
            <a:avLst/>
          </a:prstGeom>
          <a:solidFill>
            <a:srgbClr val="EDE9E1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</a:rPr>
              <a:t>FPS</a:t>
            </a:r>
          </a:p>
        </p:txBody>
      </p:sp>
      <p:sp>
        <p:nvSpPr>
          <p:cNvPr id="212" name="Cell1_1"/>
          <p:cNvSpPr/>
          <p:nvPr/>
        </p:nvSpPr>
        <p:spPr>
          <a:xfrm>
            <a:off x="2095500" y="2235200"/>
            <a:ext cx="2197100" cy="736600"/>
          </a:xfrm>
          <a:prstGeom prst="rect">
            <a:avLst/>
          </a:prstGeom>
          <a:solidFill>
            <a:srgbClr val="F5F3E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약 28</a:t>
            </a:r>
          </a:p>
        </p:txBody>
      </p:sp>
      <p:sp>
        <p:nvSpPr>
          <p:cNvPr id="213" name="Cell1_2"/>
          <p:cNvSpPr/>
          <p:nvPr/>
        </p:nvSpPr>
        <p:spPr>
          <a:xfrm>
            <a:off x="4292600" y="2235200"/>
            <a:ext cx="2197100" cy="736600"/>
          </a:xfrm>
          <a:prstGeom prst="rect">
            <a:avLst/>
          </a:prstGeom>
          <a:solidFill>
            <a:srgbClr val="F5F3E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약 22</a:t>
            </a:r>
          </a:p>
        </p:txBody>
      </p:sp>
      <p:sp>
        <p:nvSpPr>
          <p:cNvPr id="214" name="Cell1_3"/>
          <p:cNvSpPr/>
          <p:nvPr/>
        </p:nvSpPr>
        <p:spPr>
          <a:xfrm>
            <a:off x="6489700" y="2235200"/>
            <a:ext cx="2209800" cy="736600"/>
          </a:xfrm>
          <a:prstGeom prst="rect">
            <a:avLst/>
          </a:prstGeom>
          <a:solidFill>
            <a:srgbClr val="F5F3E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약 16 / 7</a:t>
            </a:r>
          </a:p>
        </p:txBody>
      </p:sp>
      <p:sp>
        <p:nvSpPr>
          <p:cNvPr id="215" name="Cell2_0"/>
          <p:cNvSpPr/>
          <p:nvPr/>
        </p:nvSpPr>
        <p:spPr>
          <a:xfrm>
            <a:off x="444500" y="2971800"/>
            <a:ext cx="1651000" cy="736600"/>
          </a:xfrm>
          <a:prstGeom prst="rect">
            <a:avLst/>
          </a:prstGeom>
          <a:solidFill>
            <a:srgbClr val="EDE9E1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</a:rPr>
              <a:t>E2E &lt;50 ms</a:t>
            </a:r>
          </a:p>
        </p:txBody>
      </p:sp>
      <p:sp>
        <p:nvSpPr>
          <p:cNvPr id="216" name="Cell2_1"/>
          <p:cNvSpPr/>
          <p:nvPr/>
        </p:nvSpPr>
        <p:spPr>
          <a:xfrm>
            <a:off x="2095500" y="2971800"/>
            <a:ext cx="21971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전 frame 통과</a:t>
            </a:r>
          </a:p>
        </p:txBody>
      </p:sp>
      <p:sp>
        <p:nvSpPr>
          <p:cNvPr id="217" name="Cell2_2"/>
          <p:cNvSpPr/>
          <p:nvPr/>
        </p:nvSpPr>
        <p:spPr>
          <a:xfrm>
            <a:off x="4292600" y="2971800"/>
            <a:ext cx="21971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거의 전 frame</a:t>
            </a:r>
          </a:p>
        </p:txBody>
      </p:sp>
      <p:sp>
        <p:nvSpPr>
          <p:cNvPr id="218" name="Cell2_3"/>
          <p:cNvSpPr/>
          <p:nvPr/>
        </p:nvSpPr>
        <p:spPr>
          <a:xfrm>
            <a:off x="6489700" y="2971800"/>
            <a:ext cx="22098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사실상 실패</a:t>
            </a:r>
          </a:p>
        </p:txBody>
      </p:sp>
      <p:sp>
        <p:nvSpPr>
          <p:cNvPr id="219" name="Cell3_0"/>
          <p:cNvSpPr/>
          <p:nvPr/>
        </p:nvSpPr>
        <p:spPr>
          <a:xfrm>
            <a:off x="444500" y="3708400"/>
            <a:ext cx="1651000" cy="736600"/>
          </a:xfrm>
          <a:prstGeom prst="rect">
            <a:avLst/>
          </a:prstGeom>
          <a:solidFill>
            <a:srgbClr val="EDE9E1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</a:rPr>
              <a:t>인식 / Conf</a:t>
            </a:r>
          </a:p>
        </p:txBody>
      </p:sp>
      <p:sp>
        <p:nvSpPr>
          <p:cNvPr id="220" name="Cell3_1"/>
          <p:cNvSpPr/>
          <p:nvPr/>
        </p:nvSpPr>
        <p:spPr>
          <a:xfrm>
            <a:off x="2095500" y="3708400"/>
            <a:ext cx="2197100" cy="736600"/>
          </a:xfrm>
          <a:prstGeom prst="rect">
            <a:avLst/>
          </a:prstGeom>
          <a:solidFill>
            <a:srgbClr val="F5F3E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안정 / 0.97</a:t>
            </a:r>
          </a:p>
        </p:txBody>
      </p:sp>
      <p:sp>
        <p:nvSpPr>
          <p:cNvPr id="221" name="Cell3_2"/>
          <p:cNvSpPr/>
          <p:nvPr/>
        </p:nvSpPr>
        <p:spPr>
          <a:xfrm>
            <a:off x="4292600" y="3708400"/>
            <a:ext cx="2197100" cy="736600"/>
          </a:xfrm>
          <a:prstGeom prst="rect">
            <a:avLst/>
          </a:prstGeom>
          <a:solidFill>
            <a:srgbClr val="F5F3E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안정 / 0.99</a:t>
            </a:r>
          </a:p>
        </p:txBody>
      </p:sp>
      <p:sp>
        <p:nvSpPr>
          <p:cNvPr id="222" name="Cell3_3"/>
          <p:cNvSpPr/>
          <p:nvPr/>
        </p:nvSpPr>
        <p:spPr>
          <a:xfrm>
            <a:off x="6489700" y="3708400"/>
            <a:ext cx="2209800" cy="736600"/>
          </a:xfrm>
          <a:prstGeom prst="rect">
            <a:avLst/>
          </a:prstGeom>
          <a:solidFill>
            <a:srgbClr val="F5F3E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불안정 / 0.77</a:t>
            </a:r>
          </a:p>
        </p:txBody>
      </p:sp>
      <p:sp>
        <p:nvSpPr>
          <p:cNvPr id="223" name="Footnote"/>
          <p:cNvSpPr txBox="1"/>
          <p:nvPr/>
        </p:nvSpPr>
        <p:spPr>
          <a:xfrm>
            <a:off x="444500" y="4546600"/>
            <a:ext cx="8255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lang="ko-KR" sz="9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</a:rPr>
              <a:t>* Jetson Orin NX 16GB · ZED X Mini SVGA@120 · TRT FP16 · 15s 측정</a:t>
            </a:r>
          </a:p>
        </p:txBody>
      </p:sp>
    </p:spTree>
    <p:extLst>
      <p:ext uri="{BB962C8B-B14F-4D97-AF65-F5344CB8AC3E}">
        <p14:creationId xmlns:p14="http://schemas.microsoft.com/office/powerpoint/2010/main" val="2862952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441819-7729-BD4D-B268-09C4C838E3DF}"/>
              </a:ext>
            </a:extLst>
          </p:cNvPr>
          <p:cNvSpPr txBox="1"/>
          <p:nvPr/>
        </p:nvSpPr>
        <p:spPr>
          <a:xfrm>
            <a:off x="444500" y="355600"/>
            <a:ext cx="82550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ko-KR" sz="30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Keypoint Reduction — 17 → 6 keys</a:t>
            </a:r>
            <a:endParaRPr lang="ko-KR" altLang="en-US" sz="3000" b="1">
              <a:solidFill>
                <a:srgbClr val="171B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1E245E-2B9F-9340-A7AB-84E304D80058}"/>
              </a:ext>
            </a:extLst>
          </p:cNvPr>
          <p:cNvSpPr txBox="1"/>
          <p:nvPr/>
        </p:nvSpPr>
        <p:spPr>
          <a:xfrm>
            <a:off x="444500" y="1016000"/>
            <a:ext cx="8255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불필요한 상체 </a:t>
            </a:r>
            <a:r>
              <a:rPr lang="en" altLang="ko-KR" sz="140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keypoint </a:t>
            </a:r>
            <a:r>
              <a:rPr lang="ko-KR" altLang="en-US" sz="140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제거 → </a:t>
            </a:r>
            <a:r>
              <a:rPr lang="en" altLang="ko-KR" sz="140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hip · knee · ankle </a:t>
            </a:r>
            <a:r>
              <a:rPr lang="ko-KR" altLang="en-US" sz="140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위주로 경량화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1CA2F35-5E73-FA4D-BF16-32566C468266}"/>
              </a:ext>
            </a:extLst>
          </p:cNvPr>
          <p:cNvSpPr/>
          <p:nvPr/>
        </p:nvSpPr>
        <p:spPr>
          <a:xfrm>
            <a:off x="444500" y="1422400"/>
            <a:ext cx="8255000" cy="127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33D651-4BAA-EF46-8D79-47CBF89CDAE3}"/>
              </a:ext>
            </a:extLst>
          </p:cNvPr>
          <p:cNvSpPr txBox="1"/>
          <p:nvPr/>
        </p:nvSpPr>
        <p:spPr>
          <a:xfrm>
            <a:off x="186558" y="1651000"/>
            <a:ext cx="4064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ko-KR" sz="1600" b="1" dirty="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YOLO Default — 17 keys</a:t>
            </a:r>
            <a:endParaRPr lang="ko-KR" altLang="en-US" sz="1600" b="1" dirty="0">
              <a:solidFill>
                <a:srgbClr val="171B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DA18AF-7B51-F348-A745-6D06D3892F17}"/>
              </a:ext>
            </a:extLst>
          </p:cNvPr>
          <p:cNvSpPr txBox="1"/>
          <p:nvPr/>
        </p:nvSpPr>
        <p:spPr>
          <a:xfrm>
            <a:off x="444500" y="3124200"/>
            <a:ext cx="4064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20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이미지 영역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A104C6-4585-D546-A398-284C79A70AB3}"/>
              </a:ext>
            </a:extLst>
          </p:cNvPr>
          <p:cNvSpPr txBox="1"/>
          <p:nvPr/>
        </p:nvSpPr>
        <p:spPr>
          <a:xfrm>
            <a:off x="444500" y="4648200"/>
            <a:ext cx="4064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10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코</a:t>
            </a:r>
            <a:r>
              <a:rPr lang="en-US" altLang="ko-KR" sz="110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10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눈</a:t>
            </a:r>
            <a:r>
              <a:rPr lang="en-US" altLang="ko-KR" sz="110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10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귀</a:t>
            </a:r>
            <a:r>
              <a:rPr lang="en-US" altLang="ko-KR" sz="110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10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어깨</a:t>
            </a:r>
            <a:r>
              <a:rPr lang="en-US" altLang="ko-KR" sz="110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10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팔꿈치</a:t>
            </a:r>
            <a:r>
              <a:rPr lang="en-US" altLang="ko-KR" sz="110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10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손목</a:t>
            </a:r>
            <a:r>
              <a:rPr lang="en-US" altLang="ko-KR" sz="110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en" altLang="ko-KR" sz="110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hip·knee·ankle </a:t>
            </a:r>
            <a:r>
              <a:rPr lang="ko-KR" altLang="en-US" sz="110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등 전신 </a:t>
            </a:r>
            <a:r>
              <a:rPr lang="en-US" altLang="ko-KR" sz="110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17 </a:t>
            </a:r>
            <a:r>
              <a:rPr lang="en" altLang="ko-KR" sz="110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keypoints</a:t>
            </a:r>
            <a:endParaRPr lang="ko-KR" altLang="en-US" sz="1100">
              <a:solidFill>
                <a:srgbClr val="66666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E21453-A6C7-A049-A1AE-B444803E1DFB}"/>
              </a:ext>
            </a:extLst>
          </p:cNvPr>
          <p:cNvSpPr txBox="1"/>
          <p:nvPr/>
        </p:nvSpPr>
        <p:spPr>
          <a:xfrm>
            <a:off x="4351721" y="1651000"/>
            <a:ext cx="4064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ko-KR" sz="1600" b="1" dirty="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Custom — 6 keys</a:t>
            </a:r>
            <a:endParaRPr lang="ko-KR" altLang="en-US" sz="1600" b="1" dirty="0">
              <a:solidFill>
                <a:srgbClr val="E894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18FD21-CCBB-9F4D-A6AD-E2F9FF4A7B74}"/>
              </a:ext>
            </a:extLst>
          </p:cNvPr>
          <p:cNvSpPr txBox="1"/>
          <p:nvPr/>
        </p:nvSpPr>
        <p:spPr>
          <a:xfrm>
            <a:off x="4635500" y="4648200"/>
            <a:ext cx="4064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10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양쪽 </a:t>
            </a:r>
            <a:r>
              <a:rPr lang="en" altLang="ko-KR" sz="110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hip · knee · ankle 6 keypoints</a:t>
            </a:r>
            <a:r>
              <a:rPr lang="ko-KR" altLang="en-US" sz="110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만 유지 → 학습</a:t>
            </a:r>
            <a:r>
              <a:rPr lang="en-US" altLang="ko-KR" sz="110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lang="ko-KR" altLang="en-US" sz="110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추론 부담 감소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04A0742-2CC4-02A6-FF66-BE41665F1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87" y="2078084"/>
            <a:ext cx="1856171" cy="246851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F74BD3B-7BCA-9535-219C-532C14038C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755" t="26437" r="62401" b="-539"/>
          <a:stretch>
            <a:fillRect/>
          </a:stretch>
        </p:blipFill>
        <p:spPr>
          <a:xfrm>
            <a:off x="2218558" y="2078084"/>
            <a:ext cx="1697859" cy="24892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CAD2A0A-8102-06E6-076B-F3FFBE8DC6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1093" y="2057399"/>
            <a:ext cx="1871696" cy="2489199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55F55F1-0E84-EF5F-C0F1-717B1561CE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098" r="16895"/>
          <a:stretch>
            <a:fillRect/>
          </a:stretch>
        </p:blipFill>
        <p:spPr>
          <a:xfrm>
            <a:off x="4441627" y="2057400"/>
            <a:ext cx="1863602" cy="24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980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"/>
          <p:cNvSpPr txBox="1"/>
          <p:nvPr/>
        </p:nvSpPr>
        <p:spPr>
          <a:xfrm>
            <a:off x="444500" y="406400"/>
            <a:ext cx="8318500" cy="6604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 2 — Fine-Tuning</a:t>
            </a:r>
          </a:p>
        </p:txBody>
      </p:sp>
      <p:sp>
        <p:nvSpPr>
          <p:cNvPr id="201" name="Subtitle"/>
          <p:cNvSpPr txBox="1"/>
          <p:nvPr/>
        </p:nvSpPr>
        <p:spPr>
          <a:xfrm>
            <a:off x="444500" y="1117600"/>
            <a:ext cx="831850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kpt → 6 kpt head 전환</a:t>
            </a:r>
          </a:p>
        </p:txBody>
      </p:sp>
      <p:sp>
        <p:nvSpPr>
          <p:cNvPr id="202" name="Divider"/>
          <p:cNvSpPr/>
          <p:nvPr/>
        </p:nvSpPr>
        <p:spPr>
          <a:xfrm>
            <a:off x="444500" y="1536700"/>
            <a:ext cx="8318500" cy="0"/>
          </a:xfrm>
          <a:prstGeom prst="line">
            <a:avLst/>
          </a:prstGeom>
          <a:ln w="9525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0" name="ImgBg210"/>
          <p:cNvSpPr/>
          <p:nvPr/>
        </p:nvSpPr>
        <p:spPr>
          <a:xfrm>
            <a:off x="444500" y="1714500"/>
            <a:ext cx="4038600" cy="2540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sz="1400" dirty="0"/>
          </a:p>
        </p:txBody>
      </p:sp>
      <p:sp>
        <p:nvSpPr>
          <p:cNvPr id="220" name="TL_H_210"/>
          <p:cNvSpPr/>
          <p:nvPr/>
        </p:nvSpPr>
        <p:spPr>
          <a:xfrm>
            <a:off x="444500" y="171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1" name="TL_V_210"/>
          <p:cNvSpPr/>
          <p:nvPr/>
        </p:nvSpPr>
        <p:spPr>
          <a:xfrm>
            <a:off x="444500" y="17145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2" name="TR_H_210"/>
          <p:cNvSpPr/>
          <p:nvPr/>
        </p:nvSpPr>
        <p:spPr>
          <a:xfrm>
            <a:off x="4305300" y="171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3" name="TR_V_210"/>
          <p:cNvSpPr/>
          <p:nvPr/>
        </p:nvSpPr>
        <p:spPr>
          <a:xfrm>
            <a:off x="4483100" y="17145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4" name="BL_H_210"/>
          <p:cNvSpPr/>
          <p:nvPr/>
        </p:nvSpPr>
        <p:spPr>
          <a:xfrm>
            <a:off x="444500" y="425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5" name="BL_V_210"/>
          <p:cNvSpPr/>
          <p:nvPr/>
        </p:nvSpPr>
        <p:spPr>
          <a:xfrm>
            <a:off x="444500" y="40767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6" name="BR_H_210"/>
          <p:cNvSpPr/>
          <p:nvPr/>
        </p:nvSpPr>
        <p:spPr>
          <a:xfrm>
            <a:off x="4305300" y="425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7" name="BR_V_210"/>
          <p:cNvSpPr/>
          <p:nvPr/>
        </p:nvSpPr>
        <p:spPr>
          <a:xfrm>
            <a:off x="4483100" y="40767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0" name="PlusH_210"/>
          <p:cNvSpPr/>
          <p:nvPr/>
        </p:nvSpPr>
        <p:spPr>
          <a:xfrm>
            <a:off x="2273300" y="2984500"/>
            <a:ext cx="381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1" name="PlusV_210"/>
          <p:cNvSpPr/>
          <p:nvPr/>
        </p:nvSpPr>
        <p:spPr>
          <a:xfrm>
            <a:off x="2463800" y="2794000"/>
            <a:ext cx="0" cy="381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0" name="Caption1"/>
          <p:cNvSpPr txBox="1"/>
          <p:nvPr/>
        </p:nvSpPr>
        <p:spPr>
          <a:xfrm>
            <a:off x="444500" y="4432299"/>
            <a:ext cx="40386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 Fine-Tuning 4대 지표 (17 → 6 kpt)</a:t>
            </a:r>
          </a:p>
        </p:txBody>
      </p:sp>
      <p:pic>
        <p:nvPicPr>
          <p:cNvPr id="302" name="Picture 301" descr="fig_ft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88" y="1638297"/>
            <a:ext cx="4968109" cy="26919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89FD45-5048-9110-67ED-0A25D7621BA5}"/>
              </a:ext>
            </a:extLst>
          </p:cNvPr>
          <p:cNvSpPr txBox="1"/>
          <p:nvPr/>
        </p:nvSpPr>
        <p:spPr>
          <a:xfrm>
            <a:off x="5381297" y="223066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경량화 </a:t>
            </a:r>
            <a:r>
              <a:rPr lang="en-US" altLang="ko-KR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44 -&gt; 18ms (GPU </a:t>
            </a:r>
            <a:r>
              <a:rPr lang="ko-KR" altLang="en-US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처리 속도</a:t>
            </a:r>
            <a:r>
              <a:rPr lang="en-US" altLang="ko-KR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)</a:t>
            </a:r>
            <a:endParaRPr lang="ko-KR" altLang="ko-KR" sz="1800" kern="0" dirty="0">
              <a:solidFill>
                <a:srgbClr val="3D4255"/>
              </a:solidFill>
              <a:latin typeface="Pretendard" pitchFamily="34" charset="0"/>
              <a:ea typeface="Pretendard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16F98B-B593-C680-BA41-3A054A11FFDF}"/>
              </a:ext>
            </a:extLst>
          </p:cNvPr>
          <p:cNvSpPr txBox="1"/>
          <p:nvPr/>
        </p:nvSpPr>
        <p:spPr>
          <a:xfrm>
            <a:off x="5412609" y="2794000"/>
            <a:ext cx="31425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경량화 </a:t>
            </a:r>
            <a:r>
              <a:rPr lang="en-US" altLang="ko-KR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44 -&gt; 18ms (GPU </a:t>
            </a:r>
            <a:r>
              <a:rPr lang="ko-KR" altLang="en-US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처리</a:t>
            </a:r>
            <a:r>
              <a:rPr lang="en-US" altLang="ko-KR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)</a:t>
            </a:r>
            <a:endParaRPr lang="ko-KR" altLang="ko-KR" sz="1800" kern="0" dirty="0">
              <a:solidFill>
                <a:srgbClr val="3D4255"/>
              </a:solidFill>
              <a:latin typeface="Pretendard" pitchFamily="34" charset="0"/>
              <a:ea typeface="Pretendard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08505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438912" y="402336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 3 — Pipeline 최적화</a:t>
            </a:r>
          </a:p>
        </p:txBody>
      </p:sp>
      <p:sp>
        <p:nvSpPr>
          <p:cNvPr id="8" name="Text 6"/>
          <p:cNvSpPr/>
          <p:nvPr/>
        </p:nvSpPr>
        <p:spPr>
          <a:xfrm>
            <a:off x="438912" y="11155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순차 처리 → 파이프라인 처리로 전환, 데이터 신선도(true latency) 확보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F304B5F-99FB-6945-9716-1BDE309FBA5E}"/>
              </a:ext>
            </a:extLst>
          </p:cNvPr>
          <p:cNvSpPr txBox="1"/>
          <p:nvPr/>
        </p:nvSpPr>
        <p:spPr>
          <a:xfrm>
            <a:off x="438912" y="164938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캡처 ↔ </a:t>
            </a:r>
            <a:r>
              <a:rPr lang="en" altLang="ko-KR" b="1" dirty="0"/>
              <a:t>GPU </a:t>
            </a:r>
            <a:r>
              <a:rPr lang="ko-KR" altLang="en-US" b="1" dirty="0"/>
              <a:t>처리 병렬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5088E4D7-9818-C4A8-2066-70BA21A272F0}"/>
              </a:ext>
            </a:extLst>
          </p:cNvPr>
          <p:cNvSpPr txBox="1"/>
          <p:nvPr/>
        </p:nvSpPr>
        <p:spPr>
          <a:xfrm>
            <a:off x="438912" y="2941083"/>
            <a:ext cx="5121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/>
              <a:t>2. CUDA Streams (GPU </a:t>
            </a:r>
            <a:r>
              <a:rPr lang="ko-KR" altLang="en-US" b="1" dirty="0"/>
              <a:t>내부 스테이지 분리</a:t>
            </a:r>
            <a:r>
              <a:rPr lang="en-US" altLang="ko-KR" b="1" dirty="0"/>
              <a:t>)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3FCA7354-AD02-3EB0-B2E2-43B69C747CF5}"/>
              </a:ext>
            </a:extLst>
          </p:cNvPr>
          <p:cNvSpPr txBox="1"/>
          <p:nvPr/>
        </p:nvSpPr>
        <p:spPr>
          <a:xfrm>
            <a:off x="530773" y="1972070"/>
            <a:ext cx="65216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" altLang="ko-KR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GPU</a:t>
            </a:r>
            <a:r>
              <a:rPr lang="ko-KR" altLang="en-US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가 </a:t>
            </a:r>
            <a:r>
              <a:rPr lang="en" altLang="ko-KR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A </a:t>
            </a:r>
            <a:r>
              <a:rPr lang="ko-KR" altLang="en-US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처리하는 </a:t>
            </a:r>
            <a:r>
              <a:rPr lang="en-US" altLang="ko-KR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14</a:t>
            </a:r>
            <a:r>
              <a:rPr lang="en" altLang="ko-KR" kern="0" dirty="0" err="1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ms</a:t>
            </a:r>
            <a:r>
              <a:rPr lang="en" altLang="ko-KR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 </a:t>
            </a:r>
            <a:r>
              <a:rPr lang="ko-KR" altLang="en-US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동안 </a:t>
            </a:r>
            <a:r>
              <a:rPr lang="en" altLang="ko-KR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ZED</a:t>
            </a:r>
            <a:r>
              <a:rPr lang="ko-KR" altLang="en-US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는 </a:t>
            </a:r>
            <a:r>
              <a:rPr lang="en" altLang="ko-KR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B, C</a:t>
            </a:r>
            <a:r>
              <a:rPr lang="ko-KR" altLang="en-US" kern="0" dirty="0" err="1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를</a:t>
            </a:r>
            <a:r>
              <a:rPr lang="ko-KR" altLang="en-US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 미리 </a:t>
            </a:r>
            <a:r>
              <a:rPr lang="ko-KR" altLang="en-US" kern="0" dirty="0" err="1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찍어둔다</a:t>
            </a:r>
            <a:r>
              <a:rPr lang="en-US" altLang="ko-KR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. </a:t>
            </a:r>
          </a:p>
          <a:p>
            <a:pPr algn="l">
              <a:buNone/>
            </a:pPr>
            <a:r>
              <a:rPr lang="ko-KR" altLang="en-US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메인 </a:t>
            </a:r>
            <a:r>
              <a:rPr lang="en" altLang="ko-KR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thread</a:t>
            </a:r>
            <a:r>
              <a:rPr lang="ko-KR" altLang="en-US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가 </a:t>
            </a:r>
            <a:r>
              <a:rPr lang="en" altLang="ko-KR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A </a:t>
            </a:r>
            <a:r>
              <a:rPr lang="ko-KR" altLang="en-US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끝나면 기다리지 않고 버퍼에서 최신 프레임 즉시 꺼냄</a:t>
            </a:r>
            <a:r>
              <a:rPr lang="en-US" altLang="ko-KR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. 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27C5B49B-486C-A925-5A8B-D41DEF20EAA1}"/>
              </a:ext>
            </a:extLst>
          </p:cNvPr>
          <p:cNvSpPr txBox="1"/>
          <p:nvPr/>
        </p:nvSpPr>
        <p:spPr>
          <a:xfrm>
            <a:off x="530773" y="3309931"/>
            <a:ext cx="75411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>
                <a:solidFill>
                  <a:srgbClr val="3D425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pre/inf/post</a:t>
            </a:r>
            <a:r>
              <a:rPr lang="ko-KR" altLang="en-US" dirty="0">
                <a:solidFill>
                  <a:srgbClr val="3D425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각자 독립된 </a:t>
            </a:r>
            <a:r>
              <a:rPr lang="en" altLang="ko-KR" dirty="0">
                <a:solidFill>
                  <a:srgbClr val="3D425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GPU stream</a:t>
            </a:r>
            <a:r>
              <a:rPr lang="ko-KR" altLang="en-US" dirty="0">
                <a:solidFill>
                  <a:srgbClr val="3D425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 실행</a:t>
            </a:r>
            <a:r>
              <a:rPr lang="en-US" altLang="ko-KR" dirty="0">
                <a:solidFill>
                  <a:srgbClr val="3D425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lang="ko-KR" altLang="en-US" dirty="0">
                <a:solidFill>
                  <a:srgbClr val="3D425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 스테이지 끝나면 </a:t>
            </a:r>
            <a:r>
              <a:rPr lang="en" altLang="ko-KR" dirty="0">
                <a:solidFill>
                  <a:srgbClr val="3D425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event </a:t>
            </a:r>
            <a:r>
              <a:rPr lang="ko-KR" altLang="en-US" dirty="0">
                <a:solidFill>
                  <a:srgbClr val="3D425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신호만 보내고 다음 스테이지 바로 시작</a:t>
            </a:r>
            <a:r>
              <a:rPr lang="en-US" altLang="ko-KR" dirty="0">
                <a:solidFill>
                  <a:srgbClr val="3D425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50777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DB1A873-B96F-4B82-A99F-49E1EABE9BAE}"/>
              </a:ext>
            </a:extLst>
          </p:cNvPr>
          <p:cNvSpPr/>
          <p:nvPr/>
        </p:nvSpPr>
        <p:spPr>
          <a:xfrm>
            <a:off x="444500" y="406400"/>
            <a:ext cx="787400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30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Evolution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D7535D-1CA2-42F0-9446-10E9D89CAFC4}"/>
              </a:ext>
            </a:extLst>
          </p:cNvPr>
          <p:cNvSpPr txBox="1"/>
          <p:nvPr/>
        </p:nvSpPr>
        <p:spPr>
          <a:xfrm>
            <a:off x="444500" y="1092200"/>
            <a:ext cx="7874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dirty="0" err="1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약</a:t>
            </a:r>
            <a:r>
              <a:rPr lang="en-US" altLang="ko-KR" sz="1400" dirty="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 44 </a:t>
            </a:r>
            <a:r>
              <a:rPr lang="en-US" altLang="ko-KR" sz="1400" dirty="0" err="1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ms</a:t>
            </a:r>
            <a:r>
              <a:rPr lang="en-US" altLang="ko-KR" sz="1400" dirty="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 → </a:t>
            </a:r>
            <a:r>
              <a:rPr lang="en-US" altLang="ko-KR" sz="1400" dirty="0" err="1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약</a:t>
            </a:r>
            <a:r>
              <a:rPr lang="en-US" altLang="ko-KR" sz="1400" dirty="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 21 </a:t>
            </a:r>
            <a:r>
              <a:rPr lang="en-US" altLang="ko-KR" sz="1400" dirty="0" err="1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ms</a:t>
            </a:r>
            <a:r>
              <a:rPr lang="en-US" altLang="ko-KR" sz="1400" dirty="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 · Robustness </a:t>
            </a:r>
            <a:r>
              <a:rPr lang="en-US" altLang="ko-KR" sz="1400" dirty="0" err="1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데이터</a:t>
            </a:r>
            <a:r>
              <a:rPr lang="en-US" altLang="ko-KR" sz="1400" dirty="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400" dirty="0" err="1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확보까지</a:t>
            </a:r>
            <a:endParaRPr lang="en-US" altLang="ko-KR" sz="1400" dirty="0">
              <a:solidFill>
                <a:srgbClr val="E894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ADFB376-08E8-476E-B10A-1239F4B76C90}"/>
              </a:ext>
            </a:extLst>
          </p:cNvPr>
          <p:cNvSpPr/>
          <p:nvPr/>
        </p:nvSpPr>
        <p:spPr>
          <a:xfrm>
            <a:off x="444500" y="1447800"/>
            <a:ext cx="82550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39165A-ACA2-4C32-923C-7432C78C46F4}"/>
              </a:ext>
            </a:extLst>
          </p:cNvPr>
          <p:cNvSpPr/>
          <p:nvPr/>
        </p:nvSpPr>
        <p:spPr>
          <a:xfrm>
            <a:off x="889000" y="3022600"/>
            <a:ext cx="73660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1A3D447-DD78-45FE-BF6C-6A5CD4DCA5A1}"/>
              </a:ext>
            </a:extLst>
          </p:cNvPr>
          <p:cNvSpPr/>
          <p:nvPr/>
        </p:nvSpPr>
        <p:spPr>
          <a:xfrm>
            <a:off x="901700" y="2933700"/>
            <a:ext cx="228600" cy="2286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BC4B8F-9867-41A4-AAE7-6D4EEDF4E92E}"/>
              </a:ext>
            </a:extLst>
          </p:cNvPr>
          <p:cNvSpPr txBox="1"/>
          <p:nvPr/>
        </p:nvSpPr>
        <p:spPr>
          <a:xfrm>
            <a:off x="381000" y="22225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Phase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F1F0A1-BD0F-4575-9B09-263769DE0E4F}"/>
              </a:ext>
            </a:extLst>
          </p:cNvPr>
          <p:cNvSpPr txBox="1"/>
          <p:nvPr/>
        </p:nvSpPr>
        <p:spPr>
          <a:xfrm>
            <a:off x="381000" y="2501900"/>
            <a:ext cx="127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모델 선정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E48A81-8233-4363-9888-903F2D064148}"/>
              </a:ext>
            </a:extLst>
          </p:cNvPr>
          <p:cNvSpPr txBox="1"/>
          <p:nvPr/>
        </p:nvSpPr>
        <p:spPr>
          <a:xfrm>
            <a:off x="317499" y="3302000"/>
            <a:ext cx="1721507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12개 모델 벤치마크.</a:t>
            </a:r>
          </a:p>
          <a:p>
            <a:pPr algn="l"/>
            <a:r>
              <a:rPr lang="ko-KR" altLang="en-US" sz="1400" dirty="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YOLO 계열만</a:t>
            </a:r>
          </a:p>
          <a:p>
            <a:pPr algn="l"/>
            <a:r>
              <a:rPr lang="ko-KR" altLang="en-US" sz="1400" dirty="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&lt;50 </a:t>
            </a:r>
            <a:r>
              <a:rPr lang="ko-KR" altLang="en-US" sz="1400" dirty="0" err="1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ms</a:t>
            </a:r>
            <a:r>
              <a:rPr lang="ko-KR" altLang="en-US" sz="1400" dirty="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 통과.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D877C17-0B6C-4914-B74D-C9A0455092A5}"/>
              </a:ext>
            </a:extLst>
          </p:cNvPr>
          <p:cNvSpPr/>
          <p:nvPr/>
        </p:nvSpPr>
        <p:spPr>
          <a:xfrm>
            <a:off x="3272366" y="2933700"/>
            <a:ext cx="228600" cy="2286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8B9B41-DFD6-4A56-9F92-0E2546CDEEE7}"/>
              </a:ext>
            </a:extLst>
          </p:cNvPr>
          <p:cNvSpPr txBox="1"/>
          <p:nvPr/>
        </p:nvSpPr>
        <p:spPr>
          <a:xfrm>
            <a:off x="2751666" y="22225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Phase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E144FF-53F5-4B90-8445-EE30FB3026CD}"/>
              </a:ext>
            </a:extLst>
          </p:cNvPr>
          <p:cNvSpPr txBox="1"/>
          <p:nvPr/>
        </p:nvSpPr>
        <p:spPr>
          <a:xfrm>
            <a:off x="2751666" y="2501900"/>
            <a:ext cx="127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Fine-Tuning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E17EE7-34AD-43B9-9D18-F181AA86BC7E}"/>
              </a:ext>
            </a:extLst>
          </p:cNvPr>
          <p:cNvSpPr txBox="1"/>
          <p:nvPr/>
        </p:nvSpPr>
        <p:spPr>
          <a:xfrm>
            <a:off x="2607002" y="3302000"/>
            <a:ext cx="1883834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6 </a:t>
            </a:r>
            <a:r>
              <a:rPr lang="ko-KR" altLang="en-US" sz="1400" dirty="0" err="1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kpt</a:t>
            </a:r>
            <a:r>
              <a:rPr lang="ko-KR" altLang="en-US" sz="1400" dirty="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400" dirty="0" err="1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head로</a:t>
            </a:r>
            <a:r>
              <a:rPr lang="ko-KR" altLang="en-US" sz="1400" dirty="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 축소.</a:t>
            </a:r>
          </a:p>
          <a:p>
            <a:pPr algn="l"/>
            <a:r>
              <a:rPr lang="ko-KR" altLang="en-US" sz="1400" dirty="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약 44 → </a:t>
            </a:r>
            <a:r>
              <a:rPr lang="en-US" altLang="ko-KR" sz="1400" dirty="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29</a:t>
            </a:r>
            <a:r>
              <a:rPr lang="ko-KR" altLang="en-US" sz="1400" dirty="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400" dirty="0" err="1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ms</a:t>
            </a:r>
            <a:r>
              <a:rPr lang="ko-KR" altLang="en-US" sz="1400" dirty="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.</a:t>
            </a:r>
          </a:p>
          <a:p>
            <a:pPr algn="l"/>
            <a:r>
              <a:rPr lang="ko-KR" altLang="en-US" sz="1400" dirty="0" err="1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연산량</a:t>
            </a:r>
            <a:r>
              <a:rPr lang="ko-KR" altLang="en-US" sz="1400" dirty="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 감소.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7E72F227-0FF1-4EEB-AAEE-A23290530B81}"/>
              </a:ext>
            </a:extLst>
          </p:cNvPr>
          <p:cNvSpPr/>
          <p:nvPr/>
        </p:nvSpPr>
        <p:spPr>
          <a:xfrm>
            <a:off x="5643033" y="2933700"/>
            <a:ext cx="228600" cy="2286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649410-5433-4197-8CCB-909A7589F9E3}"/>
              </a:ext>
            </a:extLst>
          </p:cNvPr>
          <p:cNvSpPr txBox="1"/>
          <p:nvPr/>
        </p:nvSpPr>
        <p:spPr>
          <a:xfrm>
            <a:off x="5122333" y="22225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Phase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FCBF68-E6C3-4AC1-9118-DB0886CB96EE}"/>
              </a:ext>
            </a:extLst>
          </p:cNvPr>
          <p:cNvSpPr txBox="1"/>
          <p:nvPr/>
        </p:nvSpPr>
        <p:spPr>
          <a:xfrm>
            <a:off x="5122332" y="2501900"/>
            <a:ext cx="1509695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dirty="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Pipeline </a:t>
            </a:r>
            <a:r>
              <a:rPr lang="ko-KR" altLang="en-US" sz="1400" dirty="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최적화</a:t>
            </a:r>
            <a:endParaRPr lang="en-US" altLang="ko-KR" sz="1400" dirty="0">
              <a:solidFill>
                <a:srgbClr val="E894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9DD07D-F5C2-4D17-B393-DBDC73109E6A}"/>
              </a:ext>
            </a:extLst>
          </p:cNvPr>
          <p:cNvSpPr txBox="1"/>
          <p:nvPr/>
        </p:nvSpPr>
        <p:spPr>
          <a:xfrm>
            <a:off x="5058832" y="3302000"/>
            <a:ext cx="2004119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병렬 처리 구조 </a:t>
            </a:r>
            <a:br>
              <a:rPr lang="en-US" altLang="ko-KR" sz="1400" dirty="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</a:br>
            <a:r>
              <a:rPr lang="en-US" altLang="ko-KR" sz="1400" dirty="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-&gt; </a:t>
            </a:r>
            <a:r>
              <a:rPr lang="ko-KR" altLang="en-US" sz="1400" dirty="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병목 감소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C7473CF-BBAF-46B2-8108-E42FDE2C122C}"/>
              </a:ext>
            </a:extLst>
          </p:cNvPr>
          <p:cNvSpPr/>
          <p:nvPr/>
        </p:nvSpPr>
        <p:spPr>
          <a:xfrm>
            <a:off x="8013700" y="2933700"/>
            <a:ext cx="228600" cy="2286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AC03AC-B1F7-4F95-8D0F-E241552B6FCB}"/>
              </a:ext>
            </a:extLst>
          </p:cNvPr>
          <p:cNvSpPr txBox="1"/>
          <p:nvPr/>
        </p:nvSpPr>
        <p:spPr>
          <a:xfrm>
            <a:off x="7493000" y="22225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Phase 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AFA0F8-705D-473A-B4BA-D27BF5E52302}"/>
              </a:ext>
            </a:extLst>
          </p:cNvPr>
          <p:cNvSpPr txBox="1"/>
          <p:nvPr/>
        </p:nvSpPr>
        <p:spPr>
          <a:xfrm>
            <a:off x="7493000" y="2501900"/>
            <a:ext cx="127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Dataset v3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D57E9F-50A3-4DD4-9ED7-64469E9D1A5D}"/>
              </a:ext>
            </a:extLst>
          </p:cNvPr>
          <p:cNvSpPr txBox="1"/>
          <p:nvPr/>
        </p:nvSpPr>
        <p:spPr>
          <a:xfrm>
            <a:off x="7429500" y="3302000"/>
            <a:ext cx="152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4 옷차림 × 6 속도.</a:t>
            </a:r>
          </a:p>
          <a:p>
            <a:pPr algn="l"/>
            <a:r>
              <a:rPr lang="ko-KR" altLang="en-US" sz="1400" dirty="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1,300장 / v3 학습.</a:t>
            </a:r>
          </a:p>
          <a:p>
            <a:pPr algn="l"/>
            <a:r>
              <a:rPr lang="ko-KR" altLang="en-US" sz="1400" dirty="0" err="1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Robustness</a:t>
            </a:r>
            <a:r>
              <a:rPr lang="ko-KR" altLang="en-US" sz="1400" dirty="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 확보.</a:t>
            </a:r>
          </a:p>
        </p:txBody>
      </p:sp>
    </p:spTree>
    <p:extLst>
      <p:ext uri="{BB962C8B-B14F-4D97-AF65-F5344CB8AC3E}">
        <p14:creationId xmlns:p14="http://schemas.microsoft.com/office/powerpoint/2010/main" val="129136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AF25DA9-889C-4907-9653-1789D1559832}"/>
              </a:ext>
            </a:extLst>
          </p:cNvPr>
          <p:cNvSpPr/>
          <p:nvPr/>
        </p:nvSpPr>
        <p:spPr>
          <a:xfrm>
            <a:off x="444500" y="406400"/>
            <a:ext cx="787400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3000" b="1" dirty="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왜 빨라졌는가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9838D8-A683-411D-B284-53696EC1339F}"/>
              </a:ext>
            </a:extLst>
          </p:cNvPr>
          <p:cNvSpPr txBox="1"/>
          <p:nvPr/>
        </p:nvSpPr>
        <p:spPr>
          <a:xfrm>
            <a:off x="444500" y="10922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약 44 → 14 ms 가속의 원인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4677ECC-D16D-4665-8D47-6F9C6009D06D}"/>
              </a:ext>
            </a:extLst>
          </p:cNvPr>
          <p:cNvSpPr/>
          <p:nvPr/>
        </p:nvSpPr>
        <p:spPr>
          <a:xfrm>
            <a:off x="444500" y="1447800"/>
            <a:ext cx="82550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A49E2EF-35E5-42DC-A495-A9959CFF4373}"/>
              </a:ext>
            </a:extLst>
          </p:cNvPr>
          <p:cNvSpPr/>
          <p:nvPr/>
        </p:nvSpPr>
        <p:spPr>
          <a:xfrm>
            <a:off x="1016000" y="1752600"/>
            <a:ext cx="7112000" cy="2540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A2ECC61-FDB7-4619-B4D8-927694977239}"/>
              </a:ext>
            </a:extLst>
          </p:cNvPr>
          <p:cNvSpPr/>
          <p:nvPr/>
        </p:nvSpPr>
        <p:spPr>
          <a:xfrm>
            <a:off x="1016000" y="1752600"/>
            <a:ext cx="76200" cy="25400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05D65D-805B-4604-9C6E-70450654E96F}"/>
              </a:ext>
            </a:extLst>
          </p:cNvPr>
          <p:cNvSpPr txBox="1"/>
          <p:nvPr/>
        </p:nvSpPr>
        <p:spPr>
          <a:xfrm>
            <a:off x="1270000" y="1714500"/>
            <a:ext cx="635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4800" b="1" dirty="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33211D-E8C5-40A0-9BE7-70394F0FB35B}"/>
              </a:ext>
            </a:extLst>
          </p:cNvPr>
          <p:cNvSpPr txBox="1"/>
          <p:nvPr/>
        </p:nvSpPr>
        <p:spPr>
          <a:xfrm>
            <a:off x="1270000" y="2149532"/>
            <a:ext cx="6350000" cy="16312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dirty="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1. </a:t>
            </a:r>
            <a:r>
              <a:rPr lang="ko-KR" altLang="en-US" sz="2000" dirty="0" err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연산량</a:t>
            </a:r>
            <a:r>
              <a:rPr lang="ko-KR" altLang="en-US" sz="2000" dirty="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 감소 : </a:t>
            </a:r>
            <a:r>
              <a:rPr lang="ko-KR" altLang="en-US" sz="2000" dirty="0" err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Head</a:t>
            </a:r>
            <a:r>
              <a:rPr lang="ko-KR" altLang="en-US" sz="2000" dirty="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 17→6 </a:t>
            </a:r>
            <a:r>
              <a:rPr lang="ko-KR" altLang="en-US" sz="2000" dirty="0" err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kpt</a:t>
            </a:r>
            <a:endParaRPr lang="ko-KR" altLang="en-US" sz="2000" dirty="0">
              <a:solidFill>
                <a:srgbClr val="171B5E"/>
              </a:solidFill>
              <a:latin typeface="Pretendard"/>
              <a:ea typeface="Pretendard"/>
              <a:cs typeface="Pretendard"/>
            </a:endParaRPr>
          </a:p>
          <a:p>
            <a:pPr algn="l"/>
            <a:r>
              <a:rPr lang="ko-KR" altLang="en-US" sz="2000" dirty="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2. 파이프라인 오버랩 : </a:t>
            </a:r>
            <a:r>
              <a:rPr lang="ko-KR" altLang="en-US" sz="2000" dirty="0" err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ready_rgb</a:t>
            </a:r>
            <a:r>
              <a:rPr lang="ko-KR" altLang="en-US" sz="2000" dirty="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 / </a:t>
            </a:r>
            <a:r>
              <a:rPr lang="ko-KR" altLang="en-US" sz="2000" dirty="0" err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depth</a:t>
            </a:r>
            <a:r>
              <a:rPr lang="ko-KR" altLang="en-US" sz="2000" dirty="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2000" dirty="0" err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split</a:t>
            </a:r>
            <a:endParaRPr lang="ko-KR" altLang="en-US" sz="2000" dirty="0">
              <a:solidFill>
                <a:srgbClr val="171B5E"/>
              </a:solidFill>
              <a:latin typeface="Pretendard"/>
              <a:ea typeface="Pretendard"/>
              <a:cs typeface="Pretendard"/>
            </a:endParaRPr>
          </a:p>
          <a:p>
            <a:pPr algn="l"/>
            <a:r>
              <a:rPr lang="ko-KR" altLang="en-US" sz="2000" dirty="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3. 프레임워크 우회 : </a:t>
            </a:r>
            <a:r>
              <a:rPr lang="ko-KR" altLang="en-US" sz="2000" dirty="0" err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DirectTRT</a:t>
            </a:r>
            <a:r>
              <a:rPr lang="ko-KR" altLang="en-US" sz="2000" dirty="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 + C++ </a:t>
            </a:r>
            <a:r>
              <a:rPr lang="ko-KR" altLang="en-US" sz="2000" dirty="0" err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post</a:t>
            </a:r>
            <a:endParaRPr lang="ko-KR" altLang="en-US" sz="2000" dirty="0">
              <a:solidFill>
                <a:srgbClr val="171B5E"/>
              </a:solidFill>
              <a:latin typeface="Pretendard"/>
              <a:ea typeface="Pretendard"/>
              <a:cs typeface="Pretendard"/>
            </a:endParaRPr>
          </a:p>
          <a:p>
            <a:pPr algn="l"/>
            <a:r>
              <a:rPr lang="ko-KR" altLang="en-US" sz="2000" dirty="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4. GPU·OS 최대화 : </a:t>
            </a:r>
            <a:r>
              <a:rPr lang="ko-KR" altLang="en-US" sz="2000" dirty="0" err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jetson_clocks</a:t>
            </a:r>
            <a:r>
              <a:rPr lang="ko-KR" altLang="en-US" sz="2000" dirty="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 + MAXN + </a:t>
            </a:r>
            <a:r>
              <a:rPr lang="ko-KR" altLang="en-US" sz="2000" dirty="0" err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gc.off</a:t>
            </a:r>
            <a:endParaRPr lang="ko-KR" altLang="en-US" sz="2000" dirty="0">
              <a:solidFill>
                <a:srgbClr val="171B5E"/>
              </a:solidFill>
              <a:latin typeface="Pretendard"/>
              <a:ea typeface="Pretendard"/>
              <a:cs typeface="Pretendard"/>
            </a:endParaRPr>
          </a:p>
          <a:p>
            <a:pPr algn="l"/>
            <a:r>
              <a:rPr lang="ko-KR" altLang="en-US" sz="2000" dirty="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5. 경합 제거 : CPU </a:t>
            </a:r>
            <a:r>
              <a:rPr lang="ko-KR" altLang="en-US" sz="2000" dirty="0" err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isolation</a:t>
            </a:r>
            <a:r>
              <a:rPr lang="ko-KR" altLang="en-US" sz="2000" dirty="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 + SCHED_FIFO</a:t>
            </a:r>
          </a:p>
        </p:txBody>
      </p:sp>
    </p:spTree>
    <p:extLst>
      <p:ext uri="{BB962C8B-B14F-4D97-AF65-F5344CB8AC3E}">
        <p14:creationId xmlns:p14="http://schemas.microsoft.com/office/powerpoint/2010/main" val="3629894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E436FE4-F0E1-47B8-996C-55DFC2E0843D}"/>
              </a:ext>
            </a:extLst>
          </p:cNvPr>
          <p:cNvSpPr/>
          <p:nvPr/>
        </p:nvSpPr>
        <p:spPr>
          <a:xfrm>
            <a:off x="318376" y="558800"/>
            <a:ext cx="787400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3000" b="1" dirty="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실패 교훈 — 역효과였던 접근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6986B38-3517-4425-A518-2AAD7337B8C6}"/>
              </a:ext>
            </a:extLst>
          </p:cNvPr>
          <p:cNvSpPr/>
          <p:nvPr/>
        </p:nvSpPr>
        <p:spPr>
          <a:xfrm>
            <a:off x="444500" y="1447800"/>
            <a:ext cx="82550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50A9807-AA49-40F2-9E64-5BD161B0220C}"/>
              </a:ext>
            </a:extLst>
          </p:cNvPr>
          <p:cNvSpPr/>
          <p:nvPr/>
        </p:nvSpPr>
        <p:spPr>
          <a:xfrm>
            <a:off x="444500" y="1574800"/>
            <a:ext cx="2565400" cy="3175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5EB3BD8-1197-40A9-83CF-4BF347C41C0F}"/>
              </a:ext>
            </a:extLst>
          </p:cNvPr>
          <p:cNvSpPr/>
          <p:nvPr/>
        </p:nvSpPr>
        <p:spPr>
          <a:xfrm>
            <a:off x="444500" y="1574800"/>
            <a:ext cx="25654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C01705E-6B37-447F-960F-EF178AF7619B}"/>
              </a:ext>
            </a:extLst>
          </p:cNvPr>
          <p:cNvSpPr/>
          <p:nvPr/>
        </p:nvSpPr>
        <p:spPr>
          <a:xfrm>
            <a:off x="1460500" y="1828800"/>
            <a:ext cx="533400" cy="5334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01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11D050-5631-42B6-AA94-8B42471B2651}"/>
              </a:ext>
            </a:extLst>
          </p:cNvPr>
          <p:cNvSpPr txBox="1"/>
          <p:nvPr/>
        </p:nvSpPr>
        <p:spPr>
          <a:xfrm>
            <a:off x="596900" y="2514600"/>
            <a:ext cx="2260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2D 필터링 금지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8814FC4-9761-4078-9F58-32D29090BE5F}"/>
              </a:ext>
            </a:extLst>
          </p:cNvPr>
          <p:cNvSpPr/>
          <p:nvPr/>
        </p:nvSpPr>
        <p:spPr>
          <a:xfrm>
            <a:off x="825500" y="2895600"/>
            <a:ext cx="18034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62BCFF-75A9-4A93-B057-13805BBB839F}"/>
              </a:ext>
            </a:extLst>
          </p:cNvPr>
          <p:cNvSpPr txBox="1"/>
          <p:nvPr/>
        </p:nvSpPr>
        <p:spPr>
          <a:xfrm>
            <a:off x="596900" y="3022600"/>
            <a:ext cx="22606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One Euro / SegLen 을 2D에 적용 시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depth NaN → 3D 실패.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규칙: 필터는 3D 단계에서만.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6E02FA7-B6D6-42FE-85D2-FB8359EAD195}"/>
              </a:ext>
            </a:extLst>
          </p:cNvPr>
          <p:cNvSpPr/>
          <p:nvPr/>
        </p:nvSpPr>
        <p:spPr>
          <a:xfrm>
            <a:off x="3162300" y="1574800"/>
            <a:ext cx="2565400" cy="3175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AE2E988-5DEF-453B-BEBE-72BE3BBC4F77}"/>
              </a:ext>
            </a:extLst>
          </p:cNvPr>
          <p:cNvSpPr/>
          <p:nvPr/>
        </p:nvSpPr>
        <p:spPr>
          <a:xfrm>
            <a:off x="3162300" y="1574800"/>
            <a:ext cx="25654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8DACC123-DABF-46E3-ABDD-DEB7A78DD2F1}"/>
              </a:ext>
            </a:extLst>
          </p:cNvPr>
          <p:cNvSpPr/>
          <p:nvPr/>
        </p:nvSpPr>
        <p:spPr>
          <a:xfrm>
            <a:off x="4178300" y="1828800"/>
            <a:ext cx="533400" cy="5334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02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05704A-5214-46A5-BCF8-AAA38C088AD7}"/>
              </a:ext>
            </a:extLst>
          </p:cNvPr>
          <p:cNvSpPr txBox="1"/>
          <p:nvPr/>
        </p:nvSpPr>
        <p:spPr>
          <a:xfrm>
            <a:off x="3314700" y="2514600"/>
            <a:ext cx="2260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NEURAL Depth 기각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DBBCCAC-5706-4B9F-8B52-DFE5296B38DD}"/>
              </a:ext>
            </a:extLst>
          </p:cNvPr>
          <p:cNvSpPr/>
          <p:nvPr/>
        </p:nvSpPr>
        <p:spPr>
          <a:xfrm>
            <a:off x="3543300" y="2895600"/>
            <a:ext cx="18034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433F75-880C-4FD7-9EAA-B0CDCE16B189}"/>
              </a:ext>
            </a:extLst>
          </p:cNvPr>
          <p:cNvSpPr txBox="1"/>
          <p:nvPr/>
        </p:nvSpPr>
        <p:spPr>
          <a:xfrm>
            <a:off x="3238500" y="3090386"/>
            <a:ext cx="24130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2cm 정확도 </a:t>
            </a:r>
            <a:r>
              <a:rPr lang="ko-KR" altLang="en-US" sz="1400" dirty="0" err="1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vs</a:t>
            </a:r>
            <a:r>
              <a:rPr lang="ko-KR" altLang="en-US" sz="1400" dirty="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 GPU SM 경합.</a:t>
            </a:r>
          </a:p>
          <a:p>
            <a:pPr algn="l"/>
            <a:r>
              <a:rPr lang="ko-KR" altLang="en-US" sz="1400" dirty="0" err="1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predict</a:t>
            </a:r>
            <a:r>
              <a:rPr lang="ko-KR" altLang="en-US" sz="1400" dirty="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 2.4× 급락, 29 FPS.</a:t>
            </a:r>
          </a:p>
          <a:p>
            <a:pPr algn="l"/>
            <a:r>
              <a:rPr lang="ko-KR" altLang="en-US" sz="1400" dirty="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규칙: PERFORMANCE 유지.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F73B42F-8897-4EFF-AC10-568D1B2852E4}"/>
              </a:ext>
            </a:extLst>
          </p:cNvPr>
          <p:cNvSpPr/>
          <p:nvPr/>
        </p:nvSpPr>
        <p:spPr>
          <a:xfrm>
            <a:off x="5880100" y="1574800"/>
            <a:ext cx="2565400" cy="3175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80B4D08-4041-4F0A-BEB8-22580031FE03}"/>
              </a:ext>
            </a:extLst>
          </p:cNvPr>
          <p:cNvSpPr/>
          <p:nvPr/>
        </p:nvSpPr>
        <p:spPr>
          <a:xfrm>
            <a:off x="5880100" y="1574800"/>
            <a:ext cx="25654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DE2A7606-39F6-4A59-A8B8-6F8354B2C435}"/>
              </a:ext>
            </a:extLst>
          </p:cNvPr>
          <p:cNvSpPr/>
          <p:nvPr/>
        </p:nvSpPr>
        <p:spPr>
          <a:xfrm>
            <a:off x="6896100" y="1828800"/>
            <a:ext cx="533400" cy="5334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03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50FA34-2B54-46D3-A3DD-C52A22C57418}"/>
              </a:ext>
            </a:extLst>
          </p:cNvPr>
          <p:cNvSpPr txBox="1"/>
          <p:nvPr/>
        </p:nvSpPr>
        <p:spPr>
          <a:xfrm>
            <a:off x="6032500" y="2514600"/>
            <a:ext cx="2260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Zero-Copy 포기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37324A2-AFE4-4B72-B0F7-6ADD0256EFF1}"/>
              </a:ext>
            </a:extLst>
          </p:cNvPr>
          <p:cNvSpPr/>
          <p:nvPr/>
        </p:nvSpPr>
        <p:spPr>
          <a:xfrm>
            <a:off x="6261100" y="2895600"/>
            <a:ext cx="18034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E92B30-E0AA-4AD6-84EB-E12E9119AD69}"/>
              </a:ext>
            </a:extLst>
          </p:cNvPr>
          <p:cNvSpPr txBox="1"/>
          <p:nvPr/>
        </p:nvSpPr>
        <p:spPr>
          <a:xfrm>
            <a:off x="6032500" y="3022600"/>
            <a:ext cx="22606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copy=False → capture overwrite race.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calib 100 → 0 %.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규칙: 공유 버퍼는 복사 필수.</a:t>
            </a:r>
          </a:p>
        </p:txBody>
      </p:sp>
    </p:spTree>
    <p:extLst>
      <p:ext uri="{BB962C8B-B14F-4D97-AF65-F5344CB8AC3E}">
        <p14:creationId xmlns:p14="http://schemas.microsoft.com/office/powerpoint/2010/main" val="4048809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BAD8308-9610-4D1F-A9F6-7137CDA0F2B3}"/>
              </a:ext>
            </a:extLst>
          </p:cNvPr>
          <p:cNvSpPr/>
          <p:nvPr/>
        </p:nvSpPr>
        <p:spPr>
          <a:xfrm>
            <a:off x="444500" y="406400"/>
            <a:ext cx="787400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30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Next Task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192198-D156-4F1E-8BAB-C00A609DDE67}"/>
              </a:ext>
            </a:extLst>
          </p:cNvPr>
          <p:cNvSpPr txBox="1"/>
          <p:nvPr/>
        </p:nvSpPr>
        <p:spPr>
          <a:xfrm>
            <a:off x="444500" y="10922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다음 2주 — v3 학습 → TRT 배포 → 정확도 향상 → Teensy 데이터 전송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9586B9C-0B35-4EAC-A771-08355EFBAE10}"/>
              </a:ext>
            </a:extLst>
          </p:cNvPr>
          <p:cNvSpPr/>
          <p:nvPr/>
        </p:nvSpPr>
        <p:spPr>
          <a:xfrm>
            <a:off x="444500" y="1447800"/>
            <a:ext cx="82550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E0D3B0F-32CD-4F78-9849-7410A23692CD}"/>
              </a:ext>
            </a:extLst>
          </p:cNvPr>
          <p:cNvSpPr/>
          <p:nvPr/>
        </p:nvSpPr>
        <p:spPr>
          <a:xfrm>
            <a:off x="850900" y="2159000"/>
            <a:ext cx="1651000" cy="1397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AC31671-8AF0-45FA-806A-7090A5A26F53}"/>
              </a:ext>
            </a:extLst>
          </p:cNvPr>
          <p:cNvSpPr/>
          <p:nvPr/>
        </p:nvSpPr>
        <p:spPr>
          <a:xfrm>
            <a:off x="850900" y="2159000"/>
            <a:ext cx="16510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03ACE93-630A-40C8-B9E3-AEE83863B84A}"/>
              </a:ext>
            </a:extLst>
          </p:cNvPr>
          <p:cNvSpPr/>
          <p:nvPr/>
        </p:nvSpPr>
        <p:spPr>
          <a:xfrm>
            <a:off x="1435100" y="2336800"/>
            <a:ext cx="482600" cy="482600"/>
          </a:xfrm>
          <a:prstGeom prst="ellipse">
            <a:avLst/>
          </a:prstGeom>
          <a:solidFill>
            <a:srgbClr val="171B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1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277131-EF35-4032-9D08-F586506B97D4}"/>
              </a:ext>
            </a:extLst>
          </p:cNvPr>
          <p:cNvSpPr txBox="1"/>
          <p:nvPr/>
        </p:nvSpPr>
        <p:spPr>
          <a:xfrm>
            <a:off x="977900" y="2921000"/>
            <a:ext cx="1397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v3 학습 완료 +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val mAP 확인</a:t>
            </a: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F98C5F5F-86B9-43BC-B3BB-16B54BB39F2D}"/>
              </a:ext>
            </a:extLst>
          </p:cNvPr>
          <p:cNvSpPr/>
          <p:nvPr/>
        </p:nvSpPr>
        <p:spPr>
          <a:xfrm>
            <a:off x="2527300" y="2692400"/>
            <a:ext cx="228600" cy="330200"/>
          </a:xfrm>
          <a:prstGeom prst="rightArrow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F6130DD-8D26-4819-84CA-58D842ED4B5C}"/>
              </a:ext>
            </a:extLst>
          </p:cNvPr>
          <p:cNvSpPr/>
          <p:nvPr/>
        </p:nvSpPr>
        <p:spPr>
          <a:xfrm>
            <a:off x="2781300" y="2159000"/>
            <a:ext cx="1651000" cy="1397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BBBC1C-660A-4DFC-864D-BDB4ED0CC8C5}"/>
              </a:ext>
            </a:extLst>
          </p:cNvPr>
          <p:cNvSpPr/>
          <p:nvPr/>
        </p:nvSpPr>
        <p:spPr>
          <a:xfrm>
            <a:off x="2781300" y="2159000"/>
            <a:ext cx="16510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EA7A501-CBB2-4429-891C-17780F2094D5}"/>
              </a:ext>
            </a:extLst>
          </p:cNvPr>
          <p:cNvSpPr/>
          <p:nvPr/>
        </p:nvSpPr>
        <p:spPr>
          <a:xfrm>
            <a:off x="3365500" y="2336800"/>
            <a:ext cx="482600" cy="482600"/>
          </a:xfrm>
          <a:prstGeom prst="ellipse">
            <a:avLst/>
          </a:prstGeom>
          <a:solidFill>
            <a:srgbClr val="171B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2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6AA516-A4F2-40AE-AA23-3875B4CA048F}"/>
              </a:ext>
            </a:extLst>
          </p:cNvPr>
          <p:cNvSpPr txBox="1"/>
          <p:nvPr/>
        </p:nvSpPr>
        <p:spPr>
          <a:xfrm>
            <a:off x="2857500" y="2921000"/>
            <a:ext cx="1524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TRT FP16 </a:t>
            </a:r>
            <a:r>
              <a:rPr lang="ko-KR" altLang="en-US" sz="1400" dirty="0" err="1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export</a:t>
            </a:r>
            <a:endParaRPr lang="ko-KR" altLang="en-US" sz="1400" dirty="0">
              <a:solidFill>
                <a:srgbClr val="3D4255"/>
              </a:solidFill>
              <a:latin typeface="Pretendard"/>
              <a:ea typeface="Pretendard"/>
              <a:cs typeface="Pretendard"/>
            </a:endParaRPr>
          </a:p>
          <a:p>
            <a:pPr algn="l"/>
            <a:r>
              <a:rPr lang="ko-KR" altLang="en-US" sz="1400" dirty="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+ Pipeline 적용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041A49A3-721A-45F4-94DD-92E415F54EA6}"/>
              </a:ext>
            </a:extLst>
          </p:cNvPr>
          <p:cNvSpPr/>
          <p:nvPr/>
        </p:nvSpPr>
        <p:spPr>
          <a:xfrm>
            <a:off x="4457700" y="2692400"/>
            <a:ext cx="228600" cy="330200"/>
          </a:xfrm>
          <a:prstGeom prst="rightArrow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39DEDCC-4FB0-4CD7-951C-1635F701EE14}"/>
              </a:ext>
            </a:extLst>
          </p:cNvPr>
          <p:cNvSpPr/>
          <p:nvPr/>
        </p:nvSpPr>
        <p:spPr>
          <a:xfrm>
            <a:off x="4711700" y="2159000"/>
            <a:ext cx="1651000" cy="1397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C11E96D-7BF2-4396-9369-FC4C733AF66E}"/>
              </a:ext>
            </a:extLst>
          </p:cNvPr>
          <p:cNvSpPr/>
          <p:nvPr/>
        </p:nvSpPr>
        <p:spPr>
          <a:xfrm>
            <a:off x="4711700" y="2159000"/>
            <a:ext cx="16510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C8AA267C-0D6C-482B-AEBB-B0E2F4AC10F8}"/>
              </a:ext>
            </a:extLst>
          </p:cNvPr>
          <p:cNvSpPr/>
          <p:nvPr/>
        </p:nvSpPr>
        <p:spPr>
          <a:xfrm>
            <a:off x="5295900" y="2336800"/>
            <a:ext cx="482600" cy="482600"/>
          </a:xfrm>
          <a:prstGeom prst="ellipse">
            <a:avLst/>
          </a:prstGeom>
          <a:solidFill>
            <a:srgbClr val="171B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3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AD0956-5797-4F78-AFC3-053A15442CBE}"/>
              </a:ext>
            </a:extLst>
          </p:cNvPr>
          <p:cNvSpPr txBox="1"/>
          <p:nvPr/>
        </p:nvSpPr>
        <p:spPr>
          <a:xfrm>
            <a:off x="4864100" y="2983517"/>
            <a:ext cx="1397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정확도 향상</a:t>
            </a: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C37D7A2F-9A00-4A3B-AAAF-93E7BFF99D0A}"/>
              </a:ext>
            </a:extLst>
          </p:cNvPr>
          <p:cNvSpPr/>
          <p:nvPr/>
        </p:nvSpPr>
        <p:spPr>
          <a:xfrm>
            <a:off x="6388100" y="2692400"/>
            <a:ext cx="228600" cy="330200"/>
          </a:xfrm>
          <a:prstGeom prst="rightArrow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F25B66F-9861-4BEF-B950-825E7466D934}"/>
              </a:ext>
            </a:extLst>
          </p:cNvPr>
          <p:cNvSpPr/>
          <p:nvPr/>
        </p:nvSpPr>
        <p:spPr>
          <a:xfrm>
            <a:off x="6642100" y="2159000"/>
            <a:ext cx="1651000" cy="1397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9DD9E55-7625-4DF7-9EE7-86C4DF9848F3}"/>
              </a:ext>
            </a:extLst>
          </p:cNvPr>
          <p:cNvSpPr/>
          <p:nvPr/>
        </p:nvSpPr>
        <p:spPr>
          <a:xfrm>
            <a:off x="6642100" y="2159000"/>
            <a:ext cx="16510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1B8C5FD4-2724-4EDD-8E6A-EF0921EF0C56}"/>
              </a:ext>
            </a:extLst>
          </p:cNvPr>
          <p:cNvSpPr/>
          <p:nvPr/>
        </p:nvSpPr>
        <p:spPr>
          <a:xfrm>
            <a:off x="7226300" y="2336800"/>
            <a:ext cx="482600" cy="482600"/>
          </a:xfrm>
          <a:prstGeom prst="ellipse">
            <a:avLst/>
          </a:prstGeom>
          <a:solidFill>
            <a:srgbClr val="171B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4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45C404-ADE4-4811-BFD7-619C8F4E4802}"/>
              </a:ext>
            </a:extLst>
          </p:cNvPr>
          <p:cNvSpPr txBox="1"/>
          <p:nvPr/>
        </p:nvSpPr>
        <p:spPr>
          <a:xfrm>
            <a:off x="6769100" y="2921000"/>
            <a:ext cx="1397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Teensy data 전송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FEE863-29E6-416A-BE44-AD9790BF0C50}"/>
              </a:ext>
            </a:extLst>
          </p:cNvPr>
          <p:cNvSpPr txBox="1"/>
          <p:nvPr/>
        </p:nvSpPr>
        <p:spPr>
          <a:xfrm>
            <a:off x="850900" y="36576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Train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9F3410-22F0-44A5-8DC6-41CA26754AB9}"/>
              </a:ext>
            </a:extLst>
          </p:cNvPr>
          <p:cNvSpPr txBox="1"/>
          <p:nvPr/>
        </p:nvSpPr>
        <p:spPr>
          <a:xfrm>
            <a:off x="2781300" y="36576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Deploy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265EF3-9577-40A2-853B-F3B507ABDA9C}"/>
              </a:ext>
            </a:extLst>
          </p:cNvPr>
          <p:cNvSpPr txBox="1"/>
          <p:nvPr/>
        </p:nvSpPr>
        <p:spPr>
          <a:xfrm>
            <a:off x="4711700" y="36576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Accuracy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945C2D-8EDF-4046-BAAB-A30B974E6240}"/>
              </a:ext>
            </a:extLst>
          </p:cNvPr>
          <p:cNvSpPr txBox="1"/>
          <p:nvPr/>
        </p:nvSpPr>
        <p:spPr>
          <a:xfrm>
            <a:off x="6642100" y="36576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Serial</a:t>
            </a:r>
          </a:p>
        </p:txBody>
      </p:sp>
    </p:spTree>
    <p:extLst>
      <p:ext uri="{BB962C8B-B14F-4D97-AF65-F5344CB8AC3E}">
        <p14:creationId xmlns:p14="http://schemas.microsoft.com/office/powerpoint/2010/main" val="3132062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CA78E78-BEE1-4B6F-8661-E2A3B9D3A84A}"/>
              </a:ext>
            </a:extLst>
          </p:cNvPr>
          <p:cNvSpPr/>
          <p:nvPr/>
        </p:nvSpPr>
        <p:spPr>
          <a:xfrm>
            <a:off x="444500" y="406400"/>
            <a:ext cx="787400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30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교수님 논의 사항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B48E2D3-C320-4005-BD00-D9AD75B11B8F}"/>
              </a:ext>
            </a:extLst>
          </p:cNvPr>
          <p:cNvSpPr/>
          <p:nvPr/>
        </p:nvSpPr>
        <p:spPr>
          <a:xfrm>
            <a:off x="1244600" y="1651000"/>
            <a:ext cx="558800" cy="5588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000" b="1">
                <a:solidFill>
                  <a:srgbClr val="FFFFFF"/>
                </a:solidFill>
              </a:rPr>
              <a:t>A</a:t>
            </a:r>
            <a:endParaRPr lang="ko-KR" altLang="en-US" sz="2000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296BB1-8837-466A-89B4-C4AC4F285BB1}"/>
              </a:ext>
            </a:extLst>
          </p:cNvPr>
          <p:cNvSpPr txBox="1"/>
          <p:nvPr/>
        </p:nvSpPr>
        <p:spPr>
          <a:xfrm>
            <a:off x="571500" y="2336800"/>
            <a:ext cx="2159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 dirty="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1. 제어 방식에 대한 논의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ACBD3C0-5F4C-44D3-96A8-58E095E8DC79}"/>
              </a:ext>
            </a:extLst>
          </p:cNvPr>
          <p:cNvSpPr/>
          <p:nvPr/>
        </p:nvSpPr>
        <p:spPr>
          <a:xfrm>
            <a:off x="1079500" y="2692400"/>
            <a:ext cx="889000" cy="127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F320AD07-0EA6-4CF2-B163-726D6BE06D48}"/>
              </a:ext>
            </a:extLst>
          </p:cNvPr>
          <p:cNvSpPr/>
          <p:nvPr/>
        </p:nvSpPr>
        <p:spPr>
          <a:xfrm>
            <a:off x="4292600" y="1651000"/>
            <a:ext cx="558800" cy="5588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000" b="1">
                <a:solidFill>
                  <a:srgbClr val="FFFFFF"/>
                </a:solidFill>
              </a:rPr>
              <a:t>B</a:t>
            </a:r>
            <a:endParaRPr lang="ko-KR" altLang="en-US" sz="2000" b="1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1AA166-FF35-4FD4-AE85-B941EB86A1C2}"/>
              </a:ext>
            </a:extLst>
          </p:cNvPr>
          <p:cNvSpPr txBox="1"/>
          <p:nvPr/>
        </p:nvSpPr>
        <p:spPr>
          <a:xfrm>
            <a:off x="3886200" y="2316217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 dirty="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2. 정확도 체크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687A454-37CE-4CFC-93F6-EFD698C00952}"/>
              </a:ext>
            </a:extLst>
          </p:cNvPr>
          <p:cNvSpPr/>
          <p:nvPr/>
        </p:nvSpPr>
        <p:spPr>
          <a:xfrm>
            <a:off x="4127500" y="2692400"/>
            <a:ext cx="889000" cy="127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37CD794-69F0-443C-AD8E-1BCA76EE84FC}"/>
              </a:ext>
            </a:extLst>
          </p:cNvPr>
          <p:cNvSpPr/>
          <p:nvPr/>
        </p:nvSpPr>
        <p:spPr>
          <a:xfrm>
            <a:off x="7340600" y="1643117"/>
            <a:ext cx="558800" cy="5588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000" b="1">
                <a:solidFill>
                  <a:srgbClr val="FFFFFF"/>
                </a:solidFill>
              </a:rPr>
              <a:t>C</a:t>
            </a:r>
            <a:endParaRPr lang="ko-KR" altLang="en-US" sz="2000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E76E3E-4088-4BFB-9DE7-7C9D791B8DC2}"/>
              </a:ext>
            </a:extLst>
          </p:cNvPr>
          <p:cNvSpPr txBox="1"/>
          <p:nvPr/>
        </p:nvSpPr>
        <p:spPr>
          <a:xfrm>
            <a:off x="6946900" y="2316217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 dirty="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3. 졸업 주제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97B4332-D277-4EF8-A3B8-2E493F8A4540}"/>
              </a:ext>
            </a:extLst>
          </p:cNvPr>
          <p:cNvSpPr/>
          <p:nvPr/>
        </p:nvSpPr>
        <p:spPr>
          <a:xfrm>
            <a:off x="7175500" y="2683641"/>
            <a:ext cx="889000" cy="127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2DB6E4-E860-4962-B030-566F59578DD6}"/>
              </a:ext>
            </a:extLst>
          </p:cNvPr>
          <p:cNvSpPr txBox="1"/>
          <p:nvPr/>
        </p:nvSpPr>
        <p:spPr>
          <a:xfrm>
            <a:off x="6667500" y="23368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endParaRPr/>
          </a:p>
        </p:txBody>
      </p:sp>
    </p:spTree>
    <p:extLst>
      <p:ext uri="{BB962C8B-B14F-4D97-AF65-F5344CB8AC3E}">
        <p14:creationId xmlns:p14="http://schemas.microsoft.com/office/powerpoint/2010/main" val="743413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97000" y="190500"/>
            <a:ext cx="6350000" cy="4635500"/>
          </a:xfrm>
          <a:prstGeom prst="ellipse">
            <a:avLst/>
          </a:prstGeom>
          <a:solidFill>
            <a:srgbClr val="E8941A">
              <a:alpha val="6000"/>
            </a:srgbClr>
          </a:solidFill>
          <a:ln w="3810">
            <a:solidFill>
              <a:srgbClr val="E8941A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14400" y="88900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kern="0" spc="-15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914400" y="21590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07A1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</a:p>
        </p:txBody>
      </p:sp>
      <p:sp>
        <p:nvSpPr>
          <p:cNvPr id="6" name="Shape 4"/>
          <p:cNvSpPr/>
          <p:nvPr/>
        </p:nvSpPr>
        <p:spPr>
          <a:xfrm>
            <a:off x="3017520" y="2857500"/>
            <a:ext cx="3108960" cy="0"/>
          </a:xfrm>
          <a:prstGeom prst="line">
            <a:avLst/>
          </a:prstGeom>
          <a:noFill/>
          <a:ln w="762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3048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 Lab  ·  Assistive &amp; Rehabilitation Robotics Lab  ·  Chung-Ang University  ·  조병준</a:t>
            </a:r>
          </a:p>
        </p:txBody>
      </p:sp>
    </p:spTree>
    <p:extLst>
      <p:ext uri="{BB962C8B-B14F-4D97-AF65-F5344CB8AC3E}">
        <p14:creationId xmlns:p14="http://schemas.microsoft.com/office/powerpoint/2010/main" val="2068027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RLAB Editorial">
      <a:dk1>
        <a:srgbClr val="171B5E"/>
      </a:dk1>
      <a:lt1>
        <a:srgbClr val="F7F5F0"/>
      </a:lt1>
      <a:dk2>
        <a:srgbClr val="171B5E"/>
      </a:dk2>
      <a:lt2>
        <a:srgbClr val="EDE9E1"/>
      </a:lt2>
      <a:accent1>
        <a:srgbClr val="E8941A"/>
      </a:accent1>
      <a:accent2>
        <a:srgbClr val="171B5E"/>
      </a:accent2>
      <a:accent3>
        <a:srgbClr val="E8941A"/>
      </a:accent3>
      <a:accent4>
        <a:srgbClr val="171B5E"/>
      </a:accent4>
      <a:accent5>
        <a:srgbClr val="E8941A"/>
      </a:accent5>
      <a:accent6>
        <a:srgbClr val="171B5E"/>
      </a:accent6>
      <a:hlink>
        <a:srgbClr val="E8941A"/>
      </a:hlink>
      <a:folHlink>
        <a:srgbClr val="171B5E"/>
      </a:folHlink>
    </a:clrScheme>
    <a:fontScheme name="ARLAB Fonts">
      <a:majorFont>
        <a:latin typeface="Pretendard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BBC96D6-0F3F-4406-8AD8-4FCF2461999B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  <we:property name="claude.fileId" value="&quot;1fce436b-1e60-446d-b858-36d6441749e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859</Words>
  <Application>Microsoft Macintosh PowerPoint</Application>
  <PresentationFormat>화면 슬라이드 쇼(16:9)</PresentationFormat>
  <Paragraphs>169</Paragraphs>
  <Slides>16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 Lab Research Presentation Template</dc:title>
  <dc:subject>H-Grow / H-Walker · Assistive &amp; Rehabilitation Robotics</dc:subject>
  <dc:creator>Byungjoon Cho · CAU ARLAB</dc:creator>
  <cp:lastModifiedBy>조병준</cp:lastModifiedBy>
  <cp:revision>12</cp:revision>
  <dcterms:created xsi:type="dcterms:W3CDTF">2026-03-11T01:58:52Z</dcterms:created>
  <dcterms:modified xsi:type="dcterms:W3CDTF">2026-05-03T15:26:31Z</dcterms:modified>
</cp:coreProperties>
</file>